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Linotype Feltpen Medium" charset="1" panose="03030606020000020004"/>
      <p:regular r:id="rId17"/>
    </p:embeddedFont>
    <p:embeddedFont>
      <p:font typeface="Gotham Bold" charset="1" panose="00000000000000000000"/>
      <p:regular r:id="rId18"/>
    </p:embeddedFont>
    <p:embeddedFont>
      <p:font typeface="Gotham" charset="1" panose="000000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13.png" Type="http://schemas.openxmlformats.org/officeDocument/2006/relationships/image"/><Relationship Id="rId4" Target="../media/image14.sv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19.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jpeg" Type="http://schemas.openxmlformats.org/officeDocument/2006/relationships/image"/><Relationship Id="rId3" Target="../media/VAG7ONUcFIQ.mp4" Type="http://schemas.openxmlformats.org/officeDocument/2006/relationships/video"/><Relationship Id="rId4" Target="../media/VAG7ONUcFIQ.mp4" Type="http://schemas.microsoft.com/office/2007/relationships/media"/></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2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17.png" Type="http://schemas.openxmlformats.org/officeDocument/2006/relationships/image"/><Relationship Id="rId4" Target="../media/image1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04155" y="397208"/>
            <a:ext cx="3277410" cy="327741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14329" t="-23984" r="-21383" b="-19628"/>
              </a:stretch>
            </a:blipFill>
          </p:spPr>
        </p:sp>
      </p:grpSp>
      <p:grpSp>
        <p:nvGrpSpPr>
          <p:cNvPr name="Group 4" id="4"/>
          <p:cNvGrpSpPr/>
          <p:nvPr/>
        </p:nvGrpSpPr>
        <p:grpSpPr>
          <a:xfrm rot="0">
            <a:off x="404155" y="6460371"/>
            <a:ext cx="3277410" cy="3277410"/>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105910" t="-144224" r="-107004" b="-172995"/>
              </a:stretch>
            </a:blipFill>
          </p:spPr>
        </p:sp>
      </p:grpSp>
      <p:grpSp>
        <p:nvGrpSpPr>
          <p:cNvPr name="Group 6" id="6"/>
          <p:cNvGrpSpPr/>
          <p:nvPr/>
        </p:nvGrpSpPr>
        <p:grpSpPr>
          <a:xfrm rot="0">
            <a:off x="14727229" y="397208"/>
            <a:ext cx="3277410" cy="327741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17912" t="-37970" r="-24933" b="-52491"/>
              </a:stretch>
            </a:blipFill>
          </p:spPr>
        </p:sp>
      </p:grpSp>
      <p:grpSp>
        <p:nvGrpSpPr>
          <p:cNvPr name="Group 8" id="8"/>
          <p:cNvGrpSpPr/>
          <p:nvPr/>
        </p:nvGrpSpPr>
        <p:grpSpPr>
          <a:xfrm rot="0">
            <a:off x="15010590" y="6763487"/>
            <a:ext cx="3277410" cy="3277410"/>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27202" t="-56360" r="-12419" b="-29802"/>
              </a:stretch>
            </a:blipFill>
          </p:spPr>
        </p:sp>
      </p:grpSp>
      <p:sp>
        <p:nvSpPr>
          <p:cNvPr name="Freeform 10" id="10"/>
          <p:cNvSpPr/>
          <p:nvPr/>
        </p:nvSpPr>
        <p:spPr>
          <a:xfrm flipH="false" flipV="false" rot="1572818">
            <a:off x="2952947" y="3053449"/>
            <a:ext cx="1775176" cy="1045740"/>
          </a:xfrm>
          <a:custGeom>
            <a:avLst/>
            <a:gdLst/>
            <a:ahLst/>
            <a:cxnLst/>
            <a:rect r="r" b="b" t="t" l="l"/>
            <a:pathLst>
              <a:path h="1045740" w="1775176">
                <a:moveTo>
                  <a:pt x="0" y="0"/>
                </a:moveTo>
                <a:lnTo>
                  <a:pt x="1775176" y="0"/>
                </a:lnTo>
                <a:lnTo>
                  <a:pt x="1775176" y="1045740"/>
                </a:lnTo>
                <a:lnTo>
                  <a:pt x="0" y="104574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4711711" y="5267325"/>
            <a:ext cx="8864578" cy="8860884"/>
          </a:xfrm>
          <a:custGeom>
            <a:avLst/>
            <a:gdLst/>
            <a:ahLst/>
            <a:cxnLst/>
            <a:rect r="r" b="b" t="t" l="l"/>
            <a:pathLst>
              <a:path h="8860884" w="8864578">
                <a:moveTo>
                  <a:pt x="0" y="0"/>
                </a:moveTo>
                <a:lnTo>
                  <a:pt x="8864578" y="0"/>
                </a:lnTo>
                <a:lnTo>
                  <a:pt x="8864578" y="8860884"/>
                </a:lnTo>
                <a:lnTo>
                  <a:pt x="0" y="8860884"/>
                </a:lnTo>
                <a:lnTo>
                  <a:pt x="0" y="0"/>
                </a:lnTo>
                <a:close/>
              </a:path>
            </a:pathLst>
          </a:custGeom>
          <a:blipFill>
            <a:blip r:embed="rId8">
              <a:alphaModFix amt="25000"/>
            </a:blip>
            <a:stretch>
              <a:fillRect l="0" t="0" r="0" b="0"/>
            </a:stretch>
          </a:blipFill>
          <a:ln cap="sq">
            <a:noFill/>
            <a:prstDash val="solid"/>
            <a:miter/>
          </a:ln>
        </p:spPr>
      </p:sp>
      <p:grpSp>
        <p:nvGrpSpPr>
          <p:cNvPr name="Group 12" id="12"/>
          <p:cNvGrpSpPr/>
          <p:nvPr/>
        </p:nvGrpSpPr>
        <p:grpSpPr>
          <a:xfrm rot="0">
            <a:off x="7716438" y="8930232"/>
            <a:ext cx="2855125" cy="1356768"/>
            <a:chOff x="0" y="0"/>
            <a:chExt cx="3806833" cy="1809024"/>
          </a:xfrm>
        </p:grpSpPr>
        <p:sp>
          <p:nvSpPr>
            <p:cNvPr name="Freeform 13" id="13"/>
            <p:cNvSpPr/>
            <p:nvPr/>
          </p:nvSpPr>
          <p:spPr>
            <a:xfrm flipH="false" flipV="false" rot="0">
              <a:off x="0" y="48578"/>
              <a:ext cx="1942316" cy="1509847"/>
            </a:xfrm>
            <a:custGeom>
              <a:avLst/>
              <a:gdLst/>
              <a:ahLst/>
              <a:cxnLst/>
              <a:rect r="r" b="b" t="t" l="l"/>
              <a:pathLst>
                <a:path h="1509847" w="1942316">
                  <a:moveTo>
                    <a:pt x="0" y="0"/>
                  </a:moveTo>
                  <a:lnTo>
                    <a:pt x="1942316" y="0"/>
                  </a:lnTo>
                  <a:lnTo>
                    <a:pt x="1942316" y="1509847"/>
                  </a:lnTo>
                  <a:lnTo>
                    <a:pt x="0" y="1509847"/>
                  </a:lnTo>
                  <a:lnTo>
                    <a:pt x="0" y="0"/>
                  </a:lnTo>
                  <a:close/>
                </a:path>
              </a:pathLst>
            </a:custGeom>
            <a:blipFill>
              <a:blip r:embed="rId9"/>
              <a:stretch>
                <a:fillRect l="0" t="0" r="0" b="0"/>
              </a:stretch>
            </a:blipFill>
          </p:spPr>
        </p:sp>
        <p:sp>
          <p:nvSpPr>
            <p:cNvPr name="Freeform 14" id="14"/>
            <p:cNvSpPr/>
            <p:nvPr/>
          </p:nvSpPr>
          <p:spPr>
            <a:xfrm flipH="false" flipV="false" rot="0">
              <a:off x="1997809" y="0"/>
              <a:ext cx="1809024" cy="1809024"/>
            </a:xfrm>
            <a:custGeom>
              <a:avLst/>
              <a:gdLst/>
              <a:ahLst/>
              <a:cxnLst/>
              <a:rect r="r" b="b" t="t" l="l"/>
              <a:pathLst>
                <a:path h="1809024" w="1809024">
                  <a:moveTo>
                    <a:pt x="0" y="0"/>
                  </a:moveTo>
                  <a:lnTo>
                    <a:pt x="1809024" y="0"/>
                  </a:lnTo>
                  <a:lnTo>
                    <a:pt x="1809024" y="1809024"/>
                  </a:lnTo>
                  <a:lnTo>
                    <a:pt x="0" y="1809024"/>
                  </a:lnTo>
                  <a:lnTo>
                    <a:pt x="0" y="0"/>
                  </a:lnTo>
                  <a:close/>
                </a:path>
              </a:pathLst>
            </a:custGeom>
            <a:blipFill>
              <a:blip r:embed="rId10"/>
              <a:stretch>
                <a:fillRect l="0" t="0" r="0" b="0"/>
              </a:stretch>
            </a:blipFill>
          </p:spPr>
        </p:sp>
      </p:grpSp>
      <p:grpSp>
        <p:nvGrpSpPr>
          <p:cNvPr name="Group 15" id="15"/>
          <p:cNvGrpSpPr/>
          <p:nvPr/>
        </p:nvGrpSpPr>
        <p:grpSpPr>
          <a:xfrm rot="0">
            <a:off x="5037392" y="5509998"/>
            <a:ext cx="8213216" cy="424610"/>
            <a:chOff x="0" y="0"/>
            <a:chExt cx="3994154" cy="206491"/>
          </a:xfrm>
        </p:grpSpPr>
        <p:sp>
          <p:nvSpPr>
            <p:cNvPr name="Freeform 16" id="16"/>
            <p:cNvSpPr/>
            <p:nvPr/>
          </p:nvSpPr>
          <p:spPr>
            <a:xfrm flipH="false" flipV="false" rot="0">
              <a:off x="0" y="0"/>
              <a:ext cx="3994153" cy="206491"/>
            </a:xfrm>
            <a:custGeom>
              <a:avLst/>
              <a:gdLst/>
              <a:ahLst/>
              <a:cxnLst/>
              <a:rect r="r" b="b" t="t" l="l"/>
              <a:pathLst>
                <a:path h="206491" w="3994153">
                  <a:moveTo>
                    <a:pt x="26393" y="0"/>
                  </a:moveTo>
                  <a:lnTo>
                    <a:pt x="3967760" y="0"/>
                  </a:lnTo>
                  <a:cubicBezTo>
                    <a:pt x="3982337" y="0"/>
                    <a:pt x="3994153" y="11817"/>
                    <a:pt x="3994153" y="26393"/>
                  </a:cubicBezTo>
                  <a:lnTo>
                    <a:pt x="3994153" y="180098"/>
                  </a:lnTo>
                  <a:cubicBezTo>
                    <a:pt x="3994153" y="194675"/>
                    <a:pt x="3982337" y="206491"/>
                    <a:pt x="3967760" y="206491"/>
                  </a:cubicBezTo>
                  <a:lnTo>
                    <a:pt x="26393" y="206491"/>
                  </a:lnTo>
                  <a:cubicBezTo>
                    <a:pt x="11817" y="206491"/>
                    <a:pt x="0" y="194675"/>
                    <a:pt x="0" y="180098"/>
                  </a:cubicBezTo>
                  <a:lnTo>
                    <a:pt x="0" y="26393"/>
                  </a:lnTo>
                  <a:cubicBezTo>
                    <a:pt x="0" y="11817"/>
                    <a:pt x="11817" y="0"/>
                    <a:pt x="26393" y="0"/>
                  </a:cubicBezTo>
                  <a:close/>
                </a:path>
              </a:pathLst>
            </a:custGeom>
            <a:solidFill>
              <a:srgbClr val="90DE6D"/>
            </a:solidFill>
          </p:spPr>
        </p:sp>
        <p:sp>
          <p:nvSpPr>
            <p:cNvPr name="TextBox 17" id="17"/>
            <p:cNvSpPr txBox="true"/>
            <p:nvPr/>
          </p:nvSpPr>
          <p:spPr>
            <a:xfrm>
              <a:off x="0" y="-28575"/>
              <a:ext cx="3994154" cy="235066"/>
            </a:xfrm>
            <a:prstGeom prst="rect">
              <a:avLst/>
            </a:prstGeom>
          </p:spPr>
          <p:txBody>
            <a:bodyPr anchor="ctr" rtlCol="false" tIns="27512" lIns="27512" bIns="27512" rIns="27512"/>
            <a:lstStyle/>
            <a:p>
              <a:pPr algn="ctr">
                <a:lnSpc>
                  <a:spcPts val="1592"/>
                </a:lnSpc>
              </a:pPr>
            </a:p>
          </p:txBody>
        </p:sp>
      </p:grpSp>
      <p:sp>
        <p:nvSpPr>
          <p:cNvPr name="Freeform 18" id="18"/>
          <p:cNvSpPr/>
          <p:nvPr/>
        </p:nvSpPr>
        <p:spPr>
          <a:xfrm flipH="false" flipV="false" rot="0">
            <a:off x="8938961" y="4629970"/>
            <a:ext cx="493319" cy="584753"/>
          </a:xfrm>
          <a:custGeom>
            <a:avLst/>
            <a:gdLst/>
            <a:ahLst/>
            <a:cxnLst/>
            <a:rect r="r" b="b" t="t" l="l"/>
            <a:pathLst>
              <a:path h="584753" w="493319">
                <a:moveTo>
                  <a:pt x="0" y="0"/>
                </a:moveTo>
                <a:lnTo>
                  <a:pt x="493318" y="0"/>
                </a:lnTo>
                <a:lnTo>
                  <a:pt x="493318" y="584753"/>
                </a:lnTo>
                <a:lnTo>
                  <a:pt x="0" y="58475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9" id="19"/>
          <p:cNvSpPr/>
          <p:nvPr/>
        </p:nvSpPr>
        <p:spPr>
          <a:xfrm flipH="false" flipV="false" rot="812952">
            <a:off x="2793977" y="9047867"/>
            <a:ext cx="1775176" cy="1045740"/>
          </a:xfrm>
          <a:custGeom>
            <a:avLst/>
            <a:gdLst/>
            <a:ahLst/>
            <a:cxnLst/>
            <a:rect r="r" b="b" t="t" l="l"/>
            <a:pathLst>
              <a:path h="1045740" w="1775176">
                <a:moveTo>
                  <a:pt x="0" y="0"/>
                </a:moveTo>
                <a:lnTo>
                  <a:pt x="1775176" y="0"/>
                </a:lnTo>
                <a:lnTo>
                  <a:pt x="1775176" y="1045740"/>
                </a:lnTo>
                <a:lnTo>
                  <a:pt x="0" y="104574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0" id="20"/>
          <p:cNvSpPr txBox="true"/>
          <p:nvPr/>
        </p:nvSpPr>
        <p:spPr>
          <a:xfrm rot="0">
            <a:off x="10645589" y="915735"/>
            <a:ext cx="3873467" cy="2734513"/>
          </a:xfrm>
          <a:prstGeom prst="rect">
            <a:avLst/>
          </a:prstGeom>
        </p:spPr>
        <p:txBody>
          <a:bodyPr anchor="t" rtlCol="false" tIns="0" lIns="0" bIns="0" rIns="0">
            <a:spAutoFit/>
          </a:bodyPr>
          <a:lstStyle/>
          <a:p>
            <a:pPr algn="ctr" marL="0" indent="0" lvl="0">
              <a:lnSpc>
                <a:spcPts val="4363"/>
              </a:lnSpc>
              <a:spcBef>
                <a:spcPct val="0"/>
              </a:spcBef>
            </a:pPr>
            <a:r>
              <a:rPr lang="en-US" b="true" sz="3116" strike="noStrike" u="none">
                <a:solidFill>
                  <a:srgbClr val="000000"/>
                </a:solidFill>
                <a:latin typeface="Linotype Feltpen Medium"/>
                <a:ea typeface="Linotype Feltpen Medium"/>
                <a:cs typeface="Linotype Feltpen Medium"/>
                <a:sym typeface="Linotype Feltpen Medium"/>
              </a:rPr>
              <a:t>BUĞRA ÖZDEMİR</a:t>
            </a:r>
          </a:p>
          <a:p>
            <a:pPr algn="ctr" marL="0" indent="0" lvl="0">
              <a:lnSpc>
                <a:spcPts val="4363"/>
              </a:lnSpc>
              <a:spcBef>
                <a:spcPct val="0"/>
              </a:spcBef>
            </a:pPr>
            <a:r>
              <a:rPr lang="en-US" b="true" sz="3116" strike="noStrike" u="none">
                <a:solidFill>
                  <a:srgbClr val="000000"/>
                </a:solidFill>
                <a:latin typeface="Linotype Feltpen Medium"/>
                <a:ea typeface="Linotype Feltpen Medium"/>
                <a:cs typeface="Linotype Feltpen Medium"/>
                <a:sym typeface="Linotype Feltpen Medium"/>
              </a:rPr>
              <a:t>Uludağ Üniversitesi</a:t>
            </a:r>
          </a:p>
          <a:p>
            <a:pPr algn="ctr" marL="0" indent="0" lvl="0">
              <a:lnSpc>
                <a:spcPts val="4363"/>
              </a:lnSpc>
              <a:spcBef>
                <a:spcPct val="0"/>
              </a:spcBef>
            </a:pPr>
            <a:r>
              <a:rPr lang="en-US" b="true" sz="3116" strike="noStrike" u="none">
                <a:solidFill>
                  <a:srgbClr val="000000"/>
                </a:solidFill>
                <a:latin typeface="Linotype Feltpen Medium"/>
                <a:ea typeface="Linotype Feltpen Medium"/>
                <a:cs typeface="Linotype Feltpen Medium"/>
                <a:sym typeface="Linotype Feltpen Medium"/>
              </a:rPr>
              <a:t>Yönetim Bilişim Sistemleri</a:t>
            </a:r>
          </a:p>
          <a:p>
            <a:pPr algn="ctr" marL="0" indent="0" lvl="0">
              <a:lnSpc>
                <a:spcPts val="4363"/>
              </a:lnSpc>
              <a:spcBef>
                <a:spcPct val="0"/>
              </a:spcBef>
            </a:pPr>
            <a:r>
              <a:rPr lang="en-US" b="true" sz="3116" strike="noStrike" u="none">
                <a:solidFill>
                  <a:srgbClr val="000000"/>
                </a:solidFill>
                <a:latin typeface="Linotype Feltpen Medium"/>
                <a:ea typeface="Linotype Feltpen Medium"/>
                <a:cs typeface="Linotype Feltpen Medium"/>
                <a:sym typeface="Linotype Feltpen Medium"/>
              </a:rPr>
              <a:t>3. Sınıf</a:t>
            </a:r>
          </a:p>
          <a:p>
            <a:pPr algn="ctr" marL="0" indent="0" lvl="0">
              <a:lnSpc>
                <a:spcPts val="4363"/>
              </a:lnSpc>
              <a:spcBef>
                <a:spcPct val="0"/>
              </a:spcBef>
            </a:pPr>
            <a:r>
              <a:rPr lang="en-US" b="true" sz="3116" strike="noStrike" u="none">
                <a:solidFill>
                  <a:srgbClr val="000000"/>
                </a:solidFill>
                <a:latin typeface="Linotype Feltpen Medium"/>
                <a:ea typeface="Linotype Feltpen Medium"/>
                <a:cs typeface="Linotype Feltpen Medium"/>
                <a:sym typeface="Linotype Feltpen Medium"/>
              </a:rPr>
              <a:t>Yapay Zeka Sorumlusu</a:t>
            </a:r>
          </a:p>
        </p:txBody>
      </p:sp>
      <p:sp>
        <p:nvSpPr>
          <p:cNvPr name="TextBox 21" id="21"/>
          <p:cNvSpPr txBox="true"/>
          <p:nvPr/>
        </p:nvSpPr>
        <p:spPr>
          <a:xfrm rot="0">
            <a:off x="9710492" y="6468008"/>
            <a:ext cx="5300098" cy="2718190"/>
          </a:xfrm>
          <a:prstGeom prst="rect">
            <a:avLst/>
          </a:prstGeom>
        </p:spPr>
        <p:txBody>
          <a:bodyPr anchor="t" rtlCol="false" tIns="0" lIns="0" bIns="0" rIns="0">
            <a:spAutoFit/>
          </a:bodyPr>
          <a:lstStyle/>
          <a:p>
            <a:pPr algn="ctr" marL="0" indent="0" lvl="0">
              <a:lnSpc>
                <a:spcPts val="4363"/>
              </a:lnSpc>
              <a:spcBef>
                <a:spcPct val="0"/>
              </a:spcBef>
            </a:pPr>
            <a:r>
              <a:rPr lang="en-US" b="true" sz="3116" strike="noStrike" u="none">
                <a:solidFill>
                  <a:srgbClr val="000000"/>
                </a:solidFill>
                <a:latin typeface="Linotype Feltpen Medium"/>
                <a:ea typeface="Linotype Feltpen Medium"/>
                <a:cs typeface="Linotype Feltpen Medium"/>
                <a:sym typeface="Linotype Feltpen Medium"/>
              </a:rPr>
              <a:t>FURKAN ERTEN</a:t>
            </a:r>
          </a:p>
          <a:p>
            <a:pPr algn="ctr" marL="0" indent="0" lvl="0">
              <a:lnSpc>
                <a:spcPts val="4363"/>
              </a:lnSpc>
              <a:spcBef>
                <a:spcPct val="0"/>
              </a:spcBef>
            </a:pPr>
            <a:r>
              <a:rPr lang="en-US" b="true" sz="3116" strike="noStrike" u="none">
                <a:solidFill>
                  <a:srgbClr val="000000"/>
                </a:solidFill>
                <a:latin typeface="Linotype Feltpen Medium"/>
                <a:ea typeface="Linotype Feltpen Medium"/>
                <a:cs typeface="Linotype Feltpen Medium"/>
                <a:sym typeface="Linotype Feltpen Medium"/>
              </a:rPr>
              <a:t>Bursa Teknik Üniversitesi</a:t>
            </a:r>
          </a:p>
          <a:p>
            <a:pPr algn="ctr" marL="0" indent="0" lvl="0">
              <a:lnSpc>
                <a:spcPts val="4363"/>
              </a:lnSpc>
              <a:spcBef>
                <a:spcPct val="0"/>
              </a:spcBef>
            </a:pPr>
            <a:r>
              <a:rPr lang="en-US" b="true" sz="3116" strike="noStrike" u="none">
                <a:solidFill>
                  <a:srgbClr val="000000"/>
                </a:solidFill>
                <a:latin typeface="Linotype Feltpen Medium"/>
                <a:ea typeface="Linotype Feltpen Medium"/>
                <a:cs typeface="Linotype Feltpen Medium"/>
                <a:sym typeface="Linotype Feltpen Medium"/>
              </a:rPr>
              <a:t>Elektrik Elektronik Mmühendisliği</a:t>
            </a:r>
          </a:p>
          <a:p>
            <a:pPr algn="ctr" marL="0" indent="0" lvl="0">
              <a:lnSpc>
                <a:spcPts val="4363"/>
              </a:lnSpc>
              <a:spcBef>
                <a:spcPct val="0"/>
              </a:spcBef>
            </a:pPr>
            <a:r>
              <a:rPr lang="en-US" b="true" sz="3116" strike="noStrike" u="none">
                <a:solidFill>
                  <a:srgbClr val="000000"/>
                </a:solidFill>
                <a:latin typeface="Linotype Feltpen Medium"/>
                <a:ea typeface="Linotype Feltpen Medium"/>
                <a:cs typeface="Linotype Feltpen Medium"/>
                <a:sym typeface="Linotype Feltpen Medium"/>
              </a:rPr>
              <a:t> 3. Sınıf</a:t>
            </a:r>
          </a:p>
          <a:p>
            <a:pPr algn="ctr" marL="0" indent="0" lvl="0">
              <a:lnSpc>
                <a:spcPts val="4363"/>
              </a:lnSpc>
              <a:spcBef>
                <a:spcPct val="0"/>
              </a:spcBef>
            </a:pPr>
            <a:r>
              <a:rPr lang="en-US" b="true" sz="3116" strike="noStrike" u="none">
                <a:solidFill>
                  <a:srgbClr val="000000"/>
                </a:solidFill>
                <a:latin typeface="Linotype Feltpen Medium"/>
                <a:ea typeface="Linotype Feltpen Medium"/>
                <a:cs typeface="Linotype Feltpen Medium"/>
                <a:sym typeface="Linotype Feltpen Medium"/>
              </a:rPr>
              <a:t>ELEKTRİK SORUMLUSU</a:t>
            </a:r>
          </a:p>
        </p:txBody>
      </p:sp>
      <p:sp>
        <p:nvSpPr>
          <p:cNvPr name="Freeform 22" id="22"/>
          <p:cNvSpPr/>
          <p:nvPr/>
        </p:nvSpPr>
        <p:spPr>
          <a:xfrm flipH="false" flipV="false" rot="-9413123">
            <a:off x="13936660" y="6270599"/>
            <a:ext cx="1851804" cy="1090881"/>
          </a:xfrm>
          <a:custGeom>
            <a:avLst/>
            <a:gdLst/>
            <a:ahLst/>
            <a:cxnLst/>
            <a:rect r="r" b="b" t="t" l="l"/>
            <a:pathLst>
              <a:path h="1090881" w="1851804">
                <a:moveTo>
                  <a:pt x="0" y="0"/>
                </a:moveTo>
                <a:lnTo>
                  <a:pt x="1851804" y="0"/>
                </a:lnTo>
                <a:lnTo>
                  <a:pt x="1851804" y="1090880"/>
                </a:lnTo>
                <a:lnTo>
                  <a:pt x="0" y="10908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3" id="23"/>
          <p:cNvSpPr/>
          <p:nvPr/>
        </p:nvSpPr>
        <p:spPr>
          <a:xfrm flipH="false" flipV="false" rot="-9484033">
            <a:off x="13469856" y="223159"/>
            <a:ext cx="1773684" cy="1044861"/>
          </a:xfrm>
          <a:custGeom>
            <a:avLst/>
            <a:gdLst/>
            <a:ahLst/>
            <a:cxnLst/>
            <a:rect r="r" b="b" t="t" l="l"/>
            <a:pathLst>
              <a:path h="1044861" w="1773684">
                <a:moveTo>
                  <a:pt x="0" y="0"/>
                </a:moveTo>
                <a:lnTo>
                  <a:pt x="1773684" y="0"/>
                </a:lnTo>
                <a:lnTo>
                  <a:pt x="1773684" y="1044861"/>
                </a:lnTo>
                <a:lnTo>
                  <a:pt x="0" y="104486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4" id="24"/>
          <p:cNvSpPr txBox="true"/>
          <p:nvPr/>
        </p:nvSpPr>
        <p:spPr>
          <a:xfrm rot="0">
            <a:off x="4077497" y="841807"/>
            <a:ext cx="3873467" cy="2734513"/>
          </a:xfrm>
          <a:prstGeom prst="rect">
            <a:avLst/>
          </a:prstGeom>
        </p:spPr>
        <p:txBody>
          <a:bodyPr anchor="t" rtlCol="false" tIns="0" lIns="0" bIns="0" rIns="0">
            <a:spAutoFit/>
          </a:bodyPr>
          <a:lstStyle/>
          <a:p>
            <a:pPr algn="ctr">
              <a:lnSpc>
                <a:spcPts val="4363"/>
              </a:lnSpc>
            </a:pPr>
            <a:r>
              <a:rPr lang="en-US" sz="3116" b="true">
                <a:solidFill>
                  <a:srgbClr val="000000"/>
                </a:solidFill>
                <a:latin typeface="Linotype Feltpen Medium"/>
                <a:ea typeface="Linotype Feltpen Medium"/>
                <a:cs typeface="Linotype Feltpen Medium"/>
                <a:sym typeface="Linotype Feltpen Medium"/>
              </a:rPr>
              <a:t>FATMANUR SENA BÜLBÜL</a:t>
            </a:r>
          </a:p>
          <a:p>
            <a:pPr algn="ctr">
              <a:lnSpc>
                <a:spcPts val="4363"/>
              </a:lnSpc>
            </a:pPr>
            <a:r>
              <a:rPr lang="en-US" sz="3116" b="true">
                <a:solidFill>
                  <a:srgbClr val="000000"/>
                </a:solidFill>
                <a:latin typeface="Linotype Feltpen Medium"/>
                <a:ea typeface="Linotype Feltpen Medium"/>
                <a:cs typeface="Linotype Feltpen Medium"/>
                <a:sym typeface="Linotype Feltpen Medium"/>
              </a:rPr>
              <a:t>Uludağ Üniversitesi</a:t>
            </a:r>
          </a:p>
          <a:p>
            <a:pPr algn="ctr">
              <a:lnSpc>
                <a:spcPts val="4363"/>
              </a:lnSpc>
            </a:pPr>
            <a:r>
              <a:rPr lang="en-US" sz="3116" b="true">
                <a:solidFill>
                  <a:srgbClr val="000000"/>
                </a:solidFill>
                <a:latin typeface="Linotype Feltpen Medium"/>
                <a:ea typeface="Linotype Feltpen Medium"/>
                <a:cs typeface="Linotype Feltpen Medium"/>
                <a:sym typeface="Linotype Feltpen Medium"/>
              </a:rPr>
              <a:t>Yönetim Bilişim Sistemleri</a:t>
            </a:r>
          </a:p>
          <a:p>
            <a:pPr algn="ctr">
              <a:lnSpc>
                <a:spcPts val="4363"/>
              </a:lnSpc>
            </a:pPr>
            <a:r>
              <a:rPr lang="en-US" sz="3116" b="true">
                <a:solidFill>
                  <a:srgbClr val="000000"/>
                </a:solidFill>
                <a:latin typeface="Linotype Feltpen Medium"/>
                <a:ea typeface="Linotype Feltpen Medium"/>
                <a:cs typeface="Linotype Feltpen Medium"/>
                <a:sym typeface="Linotype Feltpen Medium"/>
              </a:rPr>
              <a:t>4. Sınıf</a:t>
            </a:r>
          </a:p>
          <a:p>
            <a:pPr algn="ctr">
              <a:lnSpc>
                <a:spcPts val="4363"/>
              </a:lnSpc>
              <a:spcBef>
                <a:spcPct val="0"/>
              </a:spcBef>
            </a:pPr>
            <a:r>
              <a:rPr lang="en-US" b="true" sz="3116">
                <a:solidFill>
                  <a:srgbClr val="000000"/>
                </a:solidFill>
                <a:latin typeface="Linotype Feltpen Medium"/>
                <a:ea typeface="Linotype Feltpen Medium"/>
                <a:cs typeface="Linotype Feltpen Medium"/>
                <a:sym typeface="Linotype Feltpen Medium"/>
              </a:rPr>
              <a:t>Takım Sözcüsü</a:t>
            </a:r>
          </a:p>
        </p:txBody>
      </p:sp>
      <p:sp>
        <p:nvSpPr>
          <p:cNvPr name="TextBox 25" id="25"/>
          <p:cNvSpPr txBox="true"/>
          <p:nvPr/>
        </p:nvSpPr>
        <p:spPr>
          <a:xfrm rot="0">
            <a:off x="3642473" y="6315608"/>
            <a:ext cx="3872620" cy="2705756"/>
          </a:xfrm>
          <a:prstGeom prst="rect">
            <a:avLst/>
          </a:prstGeom>
        </p:spPr>
        <p:txBody>
          <a:bodyPr anchor="t" rtlCol="false" tIns="0" lIns="0" bIns="0" rIns="0">
            <a:spAutoFit/>
          </a:bodyPr>
          <a:lstStyle/>
          <a:p>
            <a:pPr algn="ctr" marL="0" indent="0" lvl="0">
              <a:lnSpc>
                <a:spcPts val="4363"/>
              </a:lnSpc>
              <a:spcBef>
                <a:spcPct val="0"/>
              </a:spcBef>
            </a:pPr>
            <a:r>
              <a:rPr lang="en-US" b="true" sz="3116" strike="noStrike" u="none">
                <a:solidFill>
                  <a:srgbClr val="000000"/>
                </a:solidFill>
                <a:latin typeface="Linotype Feltpen Medium"/>
                <a:ea typeface="Linotype Feltpen Medium"/>
                <a:cs typeface="Linotype Feltpen Medium"/>
                <a:sym typeface="Linotype Feltpen Medium"/>
              </a:rPr>
              <a:t>MUHAMMED AKAY</a:t>
            </a:r>
          </a:p>
          <a:p>
            <a:pPr algn="ctr" marL="0" indent="0" lvl="0">
              <a:lnSpc>
                <a:spcPts val="4363"/>
              </a:lnSpc>
              <a:spcBef>
                <a:spcPct val="0"/>
              </a:spcBef>
            </a:pPr>
            <a:r>
              <a:rPr lang="en-US" b="true" sz="3116" strike="noStrike" u="none">
                <a:solidFill>
                  <a:srgbClr val="000000"/>
                </a:solidFill>
                <a:latin typeface="Linotype Feltpen Medium"/>
                <a:ea typeface="Linotype Feltpen Medium"/>
                <a:cs typeface="Linotype Feltpen Medium"/>
                <a:sym typeface="Linotype Feltpen Medium"/>
              </a:rPr>
              <a:t>Uludağ Üniversitesi</a:t>
            </a:r>
          </a:p>
          <a:p>
            <a:pPr algn="ctr" marL="0" indent="0" lvl="0">
              <a:lnSpc>
                <a:spcPts val="4363"/>
              </a:lnSpc>
              <a:spcBef>
                <a:spcPct val="0"/>
              </a:spcBef>
            </a:pPr>
            <a:r>
              <a:rPr lang="en-US" b="true" sz="3116" strike="noStrike" u="none">
                <a:solidFill>
                  <a:srgbClr val="000000"/>
                </a:solidFill>
                <a:latin typeface="Linotype Feltpen Medium"/>
                <a:ea typeface="Linotype Feltpen Medium"/>
                <a:cs typeface="Linotype Feltpen Medium"/>
                <a:sym typeface="Linotype Feltpen Medium"/>
              </a:rPr>
              <a:t>Yönetim Bilişim Sistemleri</a:t>
            </a:r>
          </a:p>
          <a:p>
            <a:pPr algn="ctr" marL="0" indent="0" lvl="0">
              <a:lnSpc>
                <a:spcPts val="4363"/>
              </a:lnSpc>
              <a:spcBef>
                <a:spcPct val="0"/>
              </a:spcBef>
            </a:pPr>
            <a:r>
              <a:rPr lang="en-US" b="true" sz="3116" strike="noStrike" u="none">
                <a:solidFill>
                  <a:srgbClr val="000000"/>
                </a:solidFill>
                <a:latin typeface="Linotype Feltpen Medium"/>
                <a:ea typeface="Linotype Feltpen Medium"/>
                <a:cs typeface="Linotype Feltpen Medium"/>
                <a:sym typeface="Linotype Feltpen Medium"/>
              </a:rPr>
              <a:t>2. Sınıfı</a:t>
            </a:r>
          </a:p>
          <a:p>
            <a:pPr algn="ctr" marL="0" indent="0" lvl="0">
              <a:lnSpc>
                <a:spcPts val="4363"/>
              </a:lnSpc>
              <a:spcBef>
                <a:spcPct val="0"/>
              </a:spcBef>
            </a:pPr>
            <a:r>
              <a:rPr lang="en-US" b="true" sz="3116" strike="noStrike" u="none">
                <a:solidFill>
                  <a:srgbClr val="000000"/>
                </a:solidFill>
                <a:latin typeface="Linotype Feltpen Medium"/>
                <a:ea typeface="Linotype Feltpen Medium"/>
                <a:cs typeface="Linotype Feltpen Medium"/>
                <a:sym typeface="Linotype Feltpen Medium"/>
              </a:rPr>
              <a:t>Araştırma Sorumlusu</a:t>
            </a:r>
          </a:p>
        </p:txBody>
      </p:sp>
      <p:sp>
        <p:nvSpPr>
          <p:cNvPr name="TextBox 26" id="26"/>
          <p:cNvSpPr txBox="true"/>
          <p:nvPr/>
        </p:nvSpPr>
        <p:spPr>
          <a:xfrm rot="0">
            <a:off x="5705678" y="3404869"/>
            <a:ext cx="6876644" cy="1510031"/>
          </a:xfrm>
          <a:prstGeom prst="rect">
            <a:avLst/>
          </a:prstGeom>
        </p:spPr>
        <p:txBody>
          <a:bodyPr anchor="t" rtlCol="false" tIns="0" lIns="0" bIns="0" rIns="0">
            <a:spAutoFit/>
          </a:bodyPr>
          <a:lstStyle/>
          <a:p>
            <a:pPr algn="ctr" marL="0" indent="0" lvl="0">
              <a:lnSpc>
                <a:spcPts val="12319"/>
              </a:lnSpc>
              <a:spcBef>
                <a:spcPct val="0"/>
              </a:spcBef>
            </a:pPr>
            <a:r>
              <a:rPr lang="en-US" b="true" sz="8799">
                <a:solidFill>
                  <a:srgbClr val="2D2D2D"/>
                </a:solidFill>
                <a:latin typeface="Gotham Bold"/>
                <a:ea typeface="Gotham Bold"/>
                <a:cs typeface="Gotham Bold"/>
                <a:sym typeface="Gotham Bold"/>
              </a:rPr>
              <a:t>DURU</a:t>
            </a:r>
          </a:p>
        </p:txBody>
      </p:sp>
      <p:sp>
        <p:nvSpPr>
          <p:cNvPr name="TextBox 27" id="27"/>
          <p:cNvSpPr txBox="true"/>
          <p:nvPr/>
        </p:nvSpPr>
        <p:spPr>
          <a:xfrm rot="0">
            <a:off x="5258016" y="5043591"/>
            <a:ext cx="7771967" cy="837564"/>
          </a:xfrm>
          <a:prstGeom prst="rect">
            <a:avLst/>
          </a:prstGeom>
        </p:spPr>
        <p:txBody>
          <a:bodyPr anchor="t" rtlCol="false" tIns="0" lIns="0" bIns="0" rIns="0">
            <a:spAutoFit/>
          </a:bodyPr>
          <a:lstStyle/>
          <a:p>
            <a:pPr algn="ctr" marL="0" indent="0" lvl="0">
              <a:lnSpc>
                <a:spcPts val="6860"/>
              </a:lnSpc>
              <a:spcBef>
                <a:spcPct val="0"/>
              </a:spcBef>
            </a:pPr>
            <a:r>
              <a:rPr lang="en-US" sz="4900">
                <a:solidFill>
                  <a:srgbClr val="2D2D2D"/>
                </a:solidFill>
                <a:latin typeface="Gotham"/>
                <a:ea typeface="Gotham"/>
                <a:cs typeface="Gotham"/>
                <a:sym typeface="Gotham"/>
              </a:rPr>
              <a:t>ÖRNEK YEMEK SANAYİ</a:t>
            </a:r>
          </a:p>
        </p:txBody>
      </p:sp>
      <p:sp>
        <p:nvSpPr>
          <p:cNvPr name="AutoShape 28" id="28"/>
          <p:cNvSpPr/>
          <p:nvPr/>
        </p:nvSpPr>
        <p:spPr>
          <a:xfrm>
            <a:off x="5939500" y="5801040"/>
            <a:ext cx="6492240" cy="0"/>
          </a:xfrm>
          <a:prstGeom prst="line">
            <a:avLst/>
          </a:prstGeom>
          <a:ln cap="flat" w="38100">
            <a:solidFill>
              <a:srgbClr val="000000"/>
            </a:solidFill>
            <a:prstDash val="solid"/>
            <a:headEnd type="none" len="sm" w="sm"/>
            <a:tailEnd type="none" len="sm" w="sm"/>
          </a:ln>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1E1E1"/>
        </a:solidFill>
      </p:bgPr>
    </p:bg>
    <p:spTree>
      <p:nvGrpSpPr>
        <p:cNvPr id="1" name=""/>
        <p:cNvGrpSpPr/>
        <p:nvPr/>
      </p:nvGrpSpPr>
      <p:grpSpPr>
        <a:xfrm>
          <a:off x="0" y="0"/>
          <a:ext cx="0" cy="0"/>
          <a:chOff x="0" y="0"/>
          <a:chExt cx="0" cy="0"/>
        </a:xfrm>
      </p:grpSpPr>
      <p:sp>
        <p:nvSpPr>
          <p:cNvPr name="Freeform 2" id="2"/>
          <p:cNvSpPr/>
          <p:nvPr/>
        </p:nvSpPr>
        <p:spPr>
          <a:xfrm flipH="false" flipV="false" rot="0">
            <a:off x="4711711" y="5267325"/>
            <a:ext cx="8864578" cy="8860884"/>
          </a:xfrm>
          <a:custGeom>
            <a:avLst/>
            <a:gdLst/>
            <a:ahLst/>
            <a:cxnLst/>
            <a:rect r="r" b="b" t="t" l="l"/>
            <a:pathLst>
              <a:path h="8860884" w="8864578">
                <a:moveTo>
                  <a:pt x="0" y="0"/>
                </a:moveTo>
                <a:lnTo>
                  <a:pt x="8864578" y="0"/>
                </a:lnTo>
                <a:lnTo>
                  <a:pt x="8864578" y="8860884"/>
                </a:lnTo>
                <a:lnTo>
                  <a:pt x="0" y="8860884"/>
                </a:lnTo>
                <a:lnTo>
                  <a:pt x="0" y="0"/>
                </a:lnTo>
                <a:close/>
              </a:path>
            </a:pathLst>
          </a:custGeom>
          <a:blipFill>
            <a:blip r:embed="rId2">
              <a:alphaModFix amt="25000"/>
            </a:blip>
            <a:stretch>
              <a:fillRect l="0" t="0" r="0" b="0"/>
            </a:stretch>
          </a:blipFill>
          <a:ln cap="sq">
            <a:noFill/>
            <a:prstDash val="solid"/>
            <a:miter/>
          </a:ln>
        </p:spPr>
      </p:sp>
      <p:sp>
        <p:nvSpPr>
          <p:cNvPr name="TextBox 3" id="3"/>
          <p:cNvSpPr txBox="true"/>
          <p:nvPr/>
        </p:nvSpPr>
        <p:spPr>
          <a:xfrm rot="0">
            <a:off x="3367107" y="4616957"/>
            <a:ext cx="11553787" cy="1129286"/>
          </a:xfrm>
          <a:prstGeom prst="rect">
            <a:avLst/>
          </a:prstGeom>
        </p:spPr>
        <p:txBody>
          <a:bodyPr anchor="t" rtlCol="false" tIns="0" lIns="0" bIns="0" rIns="0">
            <a:spAutoFit/>
          </a:bodyPr>
          <a:lstStyle/>
          <a:p>
            <a:pPr algn="ctr" marL="0" indent="0" lvl="0">
              <a:lnSpc>
                <a:spcPts val="8712"/>
              </a:lnSpc>
            </a:pPr>
            <a:r>
              <a:rPr lang="en-US" b="true" sz="7920">
                <a:solidFill>
                  <a:srgbClr val="2D2D2D"/>
                </a:solidFill>
                <a:latin typeface="Gotham Bold"/>
                <a:ea typeface="Gotham Bold"/>
                <a:cs typeface="Gotham Bold"/>
                <a:sym typeface="Gotham Bold"/>
              </a:rPr>
              <a:t>PROBLEM TESPİTİ</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1E1E1"/>
        </a:solidFill>
      </p:bgPr>
    </p:bg>
    <p:spTree>
      <p:nvGrpSpPr>
        <p:cNvPr id="1" name=""/>
        <p:cNvGrpSpPr/>
        <p:nvPr/>
      </p:nvGrpSpPr>
      <p:grpSpPr>
        <a:xfrm>
          <a:off x="0" y="0"/>
          <a:ext cx="0" cy="0"/>
          <a:chOff x="0" y="0"/>
          <a:chExt cx="0" cy="0"/>
        </a:xfrm>
      </p:grpSpPr>
      <p:grpSp>
        <p:nvGrpSpPr>
          <p:cNvPr name="Group 2" id="2"/>
          <p:cNvGrpSpPr/>
          <p:nvPr/>
        </p:nvGrpSpPr>
        <p:grpSpPr>
          <a:xfrm rot="0">
            <a:off x="10972457" y="-477516"/>
            <a:ext cx="8202429" cy="11242033"/>
            <a:chOff x="0" y="0"/>
            <a:chExt cx="2489254" cy="3411705"/>
          </a:xfrm>
        </p:grpSpPr>
        <p:sp>
          <p:nvSpPr>
            <p:cNvPr name="Freeform 3" id="3"/>
            <p:cNvSpPr/>
            <p:nvPr/>
          </p:nvSpPr>
          <p:spPr>
            <a:xfrm flipH="false" flipV="false" rot="0">
              <a:off x="0" y="0"/>
              <a:ext cx="2489254" cy="3411705"/>
            </a:xfrm>
            <a:custGeom>
              <a:avLst/>
              <a:gdLst/>
              <a:ahLst/>
              <a:cxnLst/>
              <a:rect r="r" b="b" t="t" l="l"/>
              <a:pathLst>
                <a:path h="3411705" w="2489254">
                  <a:moveTo>
                    <a:pt x="48137" y="0"/>
                  </a:moveTo>
                  <a:lnTo>
                    <a:pt x="2441117" y="0"/>
                  </a:lnTo>
                  <a:cubicBezTo>
                    <a:pt x="2467702" y="0"/>
                    <a:pt x="2489254" y="21552"/>
                    <a:pt x="2489254" y="48137"/>
                  </a:cubicBezTo>
                  <a:lnTo>
                    <a:pt x="2489254" y="3363569"/>
                  </a:lnTo>
                  <a:cubicBezTo>
                    <a:pt x="2489254" y="3376335"/>
                    <a:pt x="2484182" y="3388579"/>
                    <a:pt x="2475155" y="3397607"/>
                  </a:cubicBezTo>
                  <a:cubicBezTo>
                    <a:pt x="2466127" y="3406634"/>
                    <a:pt x="2453884" y="3411705"/>
                    <a:pt x="2441117" y="3411705"/>
                  </a:cubicBezTo>
                  <a:lnTo>
                    <a:pt x="48137" y="3411705"/>
                  </a:lnTo>
                  <a:cubicBezTo>
                    <a:pt x="35370" y="3411705"/>
                    <a:pt x="23126" y="3406634"/>
                    <a:pt x="14099" y="3397607"/>
                  </a:cubicBezTo>
                  <a:cubicBezTo>
                    <a:pt x="5072" y="3388579"/>
                    <a:pt x="0" y="3376335"/>
                    <a:pt x="0" y="3363569"/>
                  </a:cubicBezTo>
                  <a:lnTo>
                    <a:pt x="0" y="48137"/>
                  </a:lnTo>
                  <a:cubicBezTo>
                    <a:pt x="0" y="21552"/>
                    <a:pt x="21552" y="0"/>
                    <a:pt x="48137" y="0"/>
                  </a:cubicBezTo>
                  <a:close/>
                </a:path>
              </a:pathLst>
            </a:custGeom>
            <a:solidFill>
              <a:srgbClr val="90DE6D"/>
            </a:solidFill>
          </p:spPr>
        </p:sp>
        <p:sp>
          <p:nvSpPr>
            <p:cNvPr name="TextBox 4" id="4"/>
            <p:cNvSpPr txBox="true"/>
            <p:nvPr/>
          </p:nvSpPr>
          <p:spPr>
            <a:xfrm>
              <a:off x="0" y="-38100"/>
              <a:ext cx="2489254" cy="3449805"/>
            </a:xfrm>
            <a:prstGeom prst="rect">
              <a:avLst/>
            </a:prstGeom>
          </p:spPr>
          <p:txBody>
            <a:bodyPr anchor="ctr" rtlCol="false" tIns="44087" lIns="44087" bIns="44087" rIns="44087"/>
            <a:lstStyle/>
            <a:p>
              <a:pPr algn="ctr">
                <a:lnSpc>
                  <a:spcPts val="2939"/>
                </a:lnSpc>
              </a:pPr>
            </a:p>
          </p:txBody>
        </p:sp>
      </p:grpSp>
      <p:sp>
        <p:nvSpPr>
          <p:cNvPr name="Freeform 5" id="5"/>
          <p:cNvSpPr/>
          <p:nvPr/>
        </p:nvSpPr>
        <p:spPr>
          <a:xfrm flipH="false" flipV="false" rot="0">
            <a:off x="11346794" y="-2799150"/>
            <a:ext cx="8457435" cy="13233255"/>
          </a:xfrm>
          <a:custGeom>
            <a:avLst/>
            <a:gdLst/>
            <a:ahLst/>
            <a:cxnLst/>
            <a:rect r="r" b="b" t="t" l="l"/>
            <a:pathLst>
              <a:path h="13233255" w="8457435">
                <a:moveTo>
                  <a:pt x="0" y="0"/>
                </a:moveTo>
                <a:lnTo>
                  <a:pt x="8457435" y="0"/>
                </a:lnTo>
                <a:lnTo>
                  <a:pt x="8457435" y="13233256"/>
                </a:lnTo>
                <a:lnTo>
                  <a:pt x="0" y="13233256"/>
                </a:lnTo>
                <a:lnTo>
                  <a:pt x="0" y="0"/>
                </a:lnTo>
                <a:close/>
              </a:path>
            </a:pathLst>
          </a:custGeom>
          <a:blipFill>
            <a:blip r:embed="rId2"/>
            <a:stretch>
              <a:fillRect l="-17351" t="0" r="0" b="0"/>
            </a:stretch>
          </a:blipFill>
        </p:spPr>
      </p:sp>
      <p:grpSp>
        <p:nvGrpSpPr>
          <p:cNvPr name="Group 6" id="6"/>
          <p:cNvGrpSpPr/>
          <p:nvPr/>
        </p:nvGrpSpPr>
        <p:grpSpPr>
          <a:xfrm rot="0">
            <a:off x="661219" y="1868601"/>
            <a:ext cx="5027565" cy="6549798"/>
            <a:chOff x="0" y="0"/>
            <a:chExt cx="1476744" cy="1923869"/>
          </a:xfrm>
        </p:grpSpPr>
        <p:sp>
          <p:nvSpPr>
            <p:cNvPr name="Freeform 7" id="7"/>
            <p:cNvSpPr/>
            <p:nvPr/>
          </p:nvSpPr>
          <p:spPr>
            <a:xfrm flipH="false" flipV="false" rot="0">
              <a:off x="0" y="0"/>
              <a:ext cx="1476744" cy="1923869"/>
            </a:xfrm>
            <a:custGeom>
              <a:avLst/>
              <a:gdLst/>
              <a:ahLst/>
              <a:cxnLst/>
              <a:rect r="r" b="b" t="t" l="l"/>
              <a:pathLst>
                <a:path h="1923869" w="1476744">
                  <a:moveTo>
                    <a:pt x="78535" y="0"/>
                  </a:moveTo>
                  <a:lnTo>
                    <a:pt x="1398209" y="0"/>
                  </a:lnTo>
                  <a:cubicBezTo>
                    <a:pt x="1419038" y="0"/>
                    <a:pt x="1439013" y="8274"/>
                    <a:pt x="1453741" y="23002"/>
                  </a:cubicBezTo>
                  <a:cubicBezTo>
                    <a:pt x="1468470" y="37730"/>
                    <a:pt x="1476744" y="57706"/>
                    <a:pt x="1476744" y="78535"/>
                  </a:cubicBezTo>
                  <a:lnTo>
                    <a:pt x="1476744" y="1845334"/>
                  </a:lnTo>
                  <a:cubicBezTo>
                    <a:pt x="1476744" y="1888707"/>
                    <a:pt x="1441583" y="1923869"/>
                    <a:pt x="1398209" y="1923869"/>
                  </a:cubicBezTo>
                  <a:lnTo>
                    <a:pt x="78535" y="1923869"/>
                  </a:lnTo>
                  <a:cubicBezTo>
                    <a:pt x="35161" y="1923869"/>
                    <a:pt x="0" y="1888707"/>
                    <a:pt x="0" y="1845334"/>
                  </a:cubicBezTo>
                  <a:lnTo>
                    <a:pt x="0" y="78535"/>
                  </a:lnTo>
                  <a:cubicBezTo>
                    <a:pt x="0" y="35161"/>
                    <a:pt x="35161" y="0"/>
                    <a:pt x="78535" y="0"/>
                  </a:cubicBezTo>
                  <a:close/>
                </a:path>
              </a:pathLst>
            </a:custGeom>
            <a:solidFill>
              <a:srgbClr val="FFFFFF">
                <a:alpha val="40000"/>
              </a:srgbClr>
            </a:solidFill>
          </p:spPr>
        </p:sp>
        <p:sp>
          <p:nvSpPr>
            <p:cNvPr name="TextBox 8" id="8"/>
            <p:cNvSpPr txBox="true"/>
            <p:nvPr/>
          </p:nvSpPr>
          <p:spPr>
            <a:xfrm>
              <a:off x="0" y="-38100"/>
              <a:ext cx="1476744" cy="1961969"/>
            </a:xfrm>
            <a:prstGeom prst="rect">
              <a:avLst/>
            </a:prstGeom>
          </p:spPr>
          <p:txBody>
            <a:bodyPr anchor="ctr" rtlCol="false" tIns="45550" lIns="45550" bIns="45550" rIns="45550"/>
            <a:lstStyle/>
            <a:p>
              <a:pPr algn="ctr">
                <a:lnSpc>
                  <a:spcPts val="2939"/>
                </a:lnSpc>
              </a:pPr>
            </a:p>
          </p:txBody>
        </p:sp>
      </p:grpSp>
      <p:grpSp>
        <p:nvGrpSpPr>
          <p:cNvPr name="Group 9" id="9"/>
          <p:cNvGrpSpPr/>
          <p:nvPr/>
        </p:nvGrpSpPr>
        <p:grpSpPr>
          <a:xfrm rot="0">
            <a:off x="2569651" y="2164851"/>
            <a:ext cx="1210700" cy="1210700"/>
            <a:chOff x="0" y="0"/>
            <a:chExt cx="1614267" cy="1614267"/>
          </a:xfrm>
        </p:grpSpPr>
        <p:grpSp>
          <p:nvGrpSpPr>
            <p:cNvPr name="Group 10" id="10"/>
            <p:cNvGrpSpPr/>
            <p:nvPr/>
          </p:nvGrpSpPr>
          <p:grpSpPr>
            <a:xfrm rot="0">
              <a:off x="0" y="0"/>
              <a:ext cx="1614267" cy="1614267"/>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0DE6D"/>
              </a:solidFill>
            </p:spPr>
          </p:sp>
          <p:sp>
            <p:nvSpPr>
              <p:cNvPr name="TextBox 12" id="12"/>
              <p:cNvSpPr txBox="true"/>
              <p:nvPr/>
            </p:nvSpPr>
            <p:spPr>
              <a:xfrm>
                <a:off x="76200" y="28575"/>
                <a:ext cx="660400" cy="708025"/>
              </a:xfrm>
              <a:prstGeom prst="rect">
                <a:avLst/>
              </a:prstGeom>
            </p:spPr>
            <p:txBody>
              <a:bodyPr anchor="ctr" rtlCol="false" tIns="45550" lIns="45550" bIns="45550" rIns="45550"/>
              <a:lstStyle/>
              <a:p>
                <a:pPr algn="ctr">
                  <a:lnSpc>
                    <a:spcPts val="3359"/>
                  </a:lnSpc>
                </a:pPr>
              </a:p>
            </p:txBody>
          </p:sp>
        </p:grpSp>
        <p:sp>
          <p:nvSpPr>
            <p:cNvPr name="Freeform 13" id="13"/>
            <p:cNvSpPr/>
            <p:nvPr/>
          </p:nvSpPr>
          <p:spPr>
            <a:xfrm flipH="false" flipV="false" rot="0">
              <a:off x="485895" y="369435"/>
              <a:ext cx="646153" cy="875397"/>
            </a:xfrm>
            <a:custGeom>
              <a:avLst/>
              <a:gdLst/>
              <a:ahLst/>
              <a:cxnLst/>
              <a:rect r="r" b="b" t="t" l="l"/>
              <a:pathLst>
                <a:path h="875397" w="646153">
                  <a:moveTo>
                    <a:pt x="0" y="0"/>
                  </a:moveTo>
                  <a:lnTo>
                    <a:pt x="646153" y="0"/>
                  </a:lnTo>
                  <a:lnTo>
                    <a:pt x="646153" y="875397"/>
                  </a:lnTo>
                  <a:lnTo>
                    <a:pt x="0" y="87539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sp>
        <p:nvSpPr>
          <p:cNvPr name="TextBox 14" id="14"/>
          <p:cNvSpPr txBox="true"/>
          <p:nvPr/>
        </p:nvSpPr>
        <p:spPr>
          <a:xfrm rot="0">
            <a:off x="874674" y="4548152"/>
            <a:ext cx="4600655" cy="3654214"/>
          </a:xfrm>
          <a:prstGeom prst="rect">
            <a:avLst/>
          </a:prstGeom>
        </p:spPr>
        <p:txBody>
          <a:bodyPr anchor="t" rtlCol="false" tIns="0" lIns="0" bIns="0" rIns="0">
            <a:spAutoFit/>
          </a:bodyPr>
          <a:lstStyle/>
          <a:p>
            <a:pPr algn="just" marL="0" indent="0" lvl="0">
              <a:lnSpc>
                <a:spcPts val="2636"/>
              </a:lnSpc>
              <a:spcBef>
                <a:spcPct val="0"/>
              </a:spcBef>
            </a:pPr>
            <a:r>
              <a:rPr lang="en-US" sz="1882">
                <a:solidFill>
                  <a:srgbClr val="2D2D2D"/>
                </a:solidFill>
                <a:latin typeface="Gotham"/>
                <a:ea typeface="Gotham"/>
                <a:cs typeface="Gotham"/>
                <a:sym typeface="Gotham"/>
              </a:rPr>
              <a:t>Temizlik operasyonlarında günlük yaklaşık 1.500 litre taze su (6 kazan x 250 L) tüketilmektedir. Bu ‘tek kullanımlık su’ uygulaması hem yüksek su maliyetine hem de ciddi miktarda atık su oluşumuna neden olmaktadır. Ayrıca kullanılan hortumların uçlarında tetikli tasarruf başlıkları (spray nozzle) bulunmadığı için hortumlar sürekli açık kalmakta ve bu da gereksiz su israfını önemli ölçüde artırmaktadır.</a:t>
            </a:r>
          </a:p>
        </p:txBody>
      </p:sp>
      <p:sp>
        <p:nvSpPr>
          <p:cNvPr name="TextBox 15" id="15"/>
          <p:cNvSpPr txBox="true"/>
          <p:nvPr/>
        </p:nvSpPr>
        <p:spPr>
          <a:xfrm rot="0">
            <a:off x="1005540" y="3432371"/>
            <a:ext cx="4338923" cy="1001592"/>
          </a:xfrm>
          <a:prstGeom prst="rect">
            <a:avLst/>
          </a:prstGeom>
        </p:spPr>
        <p:txBody>
          <a:bodyPr anchor="t" rtlCol="false" tIns="0" lIns="0" bIns="0" rIns="0">
            <a:spAutoFit/>
          </a:bodyPr>
          <a:lstStyle/>
          <a:p>
            <a:pPr algn="ctr" marL="0" indent="0" lvl="0">
              <a:lnSpc>
                <a:spcPts val="4017"/>
              </a:lnSpc>
              <a:spcBef>
                <a:spcPct val="0"/>
              </a:spcBef>
            </a:pPr>
            <a:r>
              <a:rPr lang="en-US" b="true" sz="2869">
                <a:solidFill>
                  <a:srgbClr val="2D2D2D"/>
                </a:solidFill>
                <a:latin typeface="Gotham Bold"/>
                <a:ea typeface="Gotham Bold"/>
                <a:cs typeface="Gotham Bold"/>
                <a:sym typeface="Gotham Bold"/>
              </a:rPr>
              <a:t>KAYNAK TÜKETIMI (SU)</a:t>
            </a:r>
          </a:p>
        </p:txBody>
      </p:sp>
      <p:grpSp>
        <p:nvGrpSpPr>
          <p:cNvPr name="Group 16" id="16"/>
          <p:cNvGrpSpPr/>
          <p:nvPr/>
        </p:nvGrpSpPr>
        <p:grpSpPr>
          <a:xfrm rot="0">
            <a:off x="5871050" y="2121245"/>
            <a:ext cx="4705685" cy="6044510"/>
            <a:chOff x="0" y="0"/>
            <a:chExt cx="6274247" cy="8059347"/>
          </a:xfrm>
        </p:grpSpPr>
        <p:grpSp>
          <p:nvGrpSpPr>
            <p:cNvPr name="Group 17" id="17"/>
            <p:cNvGrpSpPr/>
            <p:nvPr/>
          </p:nvGrpSpPr>
          <p:grpSpPr>
            <a:xfrm rot="0">
              <a:off x="0" y="0"/>
              <a:ext cx="6274247" cy="8059347"/>
              <a:chOff x="0" y="0"/>
              <a:chExt cx="1382198" cy="1775451"/>
            </a:xfrm>
          </p:grpSpPr>
          <p:sp>
            <p:nvSpPr>
              <p:cNvPr name="Freeform 18" id="18"/>
              <p:cNvSpPr/>
              <p:nvPr/>
            </p:nvSpPr>
            <p:spPr>
              <a:xfrm flipH="false" flipV="false" rot="0">
                <a:off x="0" y="0"/>
                <a:ext cx="1382198" cy="1775451"/>
              </a:xfrm>
              <a:custGeom>
                <a:avLst/>
                <a:gdLst/>
                <a:ahLst/>
                <a:cxnLst/>
                <a:rect r="r" b="b" t="t" l="l"/>
                <a:pathLst>
                  <a:path h="1775451" w="1382198">
                    <a:moveTo>
                      <a:pt x="83907" y="0"/>
                    </a:moveTo>
                    <a:lnTo>
                      <a:pt x="1298292" y="0"/>
                    </a:lnTo>
                    <a:cubicBezTo>
                      <a:pt x="1344632" y="0"/>
                      <a:pt x="1382198" y="37566"/>
                      <a:pt x="1382198" y="83907"/>
                    </a:cubicBezTo>
                    <a:lnTo>
                      <a:pt x="1382198" y="1691544"/>
                    </a:lnTo>
                    <a:cubicBezTo>
                      <a:pt x="1382198" y="1737884"/>
                      <a:pt x="1344632" y="1775451"/>
                      <a:pt x="1298292" y="1775451"/>
                    </a:cubicBezTo>
                    <a:lnTo>
                      <a:pt x="83907" y="1775451"/>
                    </a:lnTo>
                    <a:cubicBezTo>
                      <a:pt x="37566" y="1775451"/>
                      <a:pt x="0" y="1737884"/>
                      <a:pt x="0" y="1691544"/>
                    </a:cubicBezTo>
                    <a:lnTo>
                      <a:pt x="0" y="83907"/>
                    </a:lnTo>
                    <a:cubicBezTo>
                      <a:pt x="0" y="37566"/>
                      <a:pt x="37566" y="0"/>
                      <a:pt x="83907" y="0"/>
                    </a:cubicBezTo>
                    <a:close/>
                  </a:path>
                </a:pathLst>
              </a:custGeom>
              <a:solidFill>
                <a:srgbClr val="FFFFFF">
                  <a:alpha val="40000"/>
                </a:srgbClr>
              </a:solidFill>
            </p:spPr>
          </p:sp>
          <p:sp>
            <p:nvSpPr>
              <p:cNvPr name="TextBox 19" id="19"/>
              <p:cNvSpPr txBox="true"/>
              <p:nvPr/>
            </p:nvSpPr>
            <p:spPr>
              <a:xfrm>
                <a:off x="0" y="-38100"/>
                <a:ext cx="1382198" cy="1813551"/>
              </a:xfrm>
              <a:prstGeom prst="rect">
                <a:avLst/>
              </a:prstGeom>
            </p:spPr>
            <p:txBody>
              <a:bodyPr anchor="ctr" rtlCol="false" tIns="45550" lIns="45550" bIns="45550" rIns="45550"/>
              <a:lstStyle/>
              <a:p>
                <a:pPr algn="ctr">
                  <a:lnSpc>
                    <a:spcPts val="2939"/>
                  </a:lnSpc>
                </a:pPr>
              </a:p>
            </p:txBody>
          </p:sp>
        </p:grpSp>
        <p:grpSp>
          <p:nvGrpSpPr>
            <p:cNvPr name="Group 20" id="20"/>
            <p:cNvGrpSpPr/>
            <p:nvPr/>
          </p:nvGrpSpPr>
          <p:grpSpPr>
            <a:xfrm rot="0">
              <a:off x="2326928" y="957103"/>
              <a:ext cx="1614267" cy="1614267"/>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0DE6D"/>
              </a:solidFill>
            </p:spPr>
          </p:sp>
          <p:sp>
            <p:nvSpPr>
              <p:cNvPr name="TextBox 22" id="22"/>
              <p:cNvSpPr txBox="true"/>
              <p:nvPr/>
            </p:nvSpPr>
            <p:spPr>
              <a:xfrm>
                <a:off x="76200" y="28575"/>
                <a:ext cx="660400" cy="708025"/>
              </a:xfrm>
              <a:prstGeom prst="rect">
                <a:avLst/>
              </a:prstGeom>
            </p:spPr>
            <p:txBody>
              <a:bodyPr anchor="ctr" rtlCol="false" tIns="45550" lIns="45550" bIns="45550" rIns="45550"/>
              <a:lstStyle/>
              <a:p>
                <a:pPr algn="ctr">
                  <a:lnSpc>
                    <a:spcPts val="3359"/>
                  </a:lnSpc>
                </a:pPr>
              </a:p>
            </p:txBody>
          </p:sp>
        </p:grpSp>
        <p:sp>
          <p:nvSpPr>
            <p:cNvPr name="Freeform 23" id="23"/>
            <p:cNvSpPr/>
            <p:nvPr/>
          </p:nvSpPr>
          <p:spPr>
            <a:xfrm flipH="false" flipV="false" rot="0">
              <a:off x="2628071" y="1326538"/>
              <a:ext cx="1023006" cy="837005"/>
            </a:xfrm>
            <a:custGeom>
              <a:avLst/>
              <a:gdLst/>
              <a:ahLst/>
              <a:cxnLst/>
              <a:rect r="r" b="b" t="t" l="l"/>
              <a:pathLst>
                <a:path h="837005" w="1023006">
                  <a:moveTo>
                    <a:pt x="0" y="0"/>
                  </a:moveTo>
                  <a:lnTo>
                    <a:pt x="1023006" y="0"/>
                  </a:lnTo>
                  <a:lnTo>
                    <a:pt x="1023006" y="837005"/>
                  </a:lnTo>
                  <a:lnTo>
                    <a:pt x="0" y="83700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4" id="24"/>
            <p:cNvSpPr txBox="true"/>
            <p:nvPr/>
          </p:nvSpPr>
          <p:spPr>
            <a:xfrm rot="0">
              <a:off x="241446" y="2624415"/>
              <a:ext cx="5785231" cy="1313231"/>
            </a:xfrm>
            <a:prstGeom prst="rect">
              <a:avLst/>
            </a:prstGeom>
          </p:spPr>
          <p:txBody>
            <a:bodyPr anchor="t" rtlCol="false" tIns="0" lIns="0" bIns="0" rIns="0">
              <a:spAutoFit/>
            </a:bodyPr>
            <a:lstStyle/>
            <a:p>
              <a:pPr algn="ctr" marL="0" indent="0" lvl="0">
                <a:lnSpc>
                  <a:spcPts val="4017"/>
                </a:lnSpc>
                <a:spcBef>
                  <a:spcPct val="0"/>
                </a:spcBef>
              </a:pPr>
              <a:r>
                <a:rPr lang="en-US" b="true" sz="2869">
                  <a:solidFill>
                    <a:srgbClr val="2D2D2D"/>
                  </a:solidFill>
                  <a:latin typeface="Gotham Bold"/>
                  <a:ea typeface="Gotham Bold"/>
                  <a:cs typeface="Gotham Bold"/>
                  <a:sym typeface="Gotham Bold"/>
                </a:rPr>
                <a:t>OPERASYONEL RISK (İSG)</a:t>
              </a:r>
            </a:p>
          </p:txBody>
        </p:sp>
        <p:sp>
          <p:nvSpPr>
            <p:cNvPr name="TextBox 25" id="25"/>
            <p:cNvSpPr txBox="true"/>
            <p:nvPr/>
          </p:nvSpPr>
          <p:spPr>
            <a:xfrm rot="0">
              <a:off x="237771" y="4463229"/>
              <a:ext cx="5785231" cy="2194900"/>
            </a:xfrm>
            <a:prstGeom prst="rect">
              <a:avLst/>
            </a:prstGeom>
          </p:spPr>
          <p:txBody>
            <a:bodyPr anchor="t" rtlCol="false" tIns="0" lIns="0" bIns="0" rIns="0">
              <a:spAutoFit/>
            </a:bodyPr>
            <a:lstStyle/>
            <a:p>
              <a:pPr algn="just" marL="0" indent="0" lvl="0">
                <a:lnSpc>
                  <a:spcPts val="2636"/>
                </a:lnSpc>
                <a:spcBef>
                  <a:spcPct val="0"/>
                </a:spcBef>
              </a:pPr>
              <a:r>
                <a:rPr lang="en-US" sz="1882">
                  <a:solidFill>
                    <a:srgbClr val="2D2D2D"/>
                  </a:solidFill>
                  <a:latin typeface="Gotham"/>
                  <a:ea typeface="Gotham"/>
                  <a:cs typeface="Gotham"/>
                  <a:sym typeface="Gotham"/>
                </a:rPr>
                <a:t>Sıcak suyun (6 adet 250L kazan) manuel olarak taşınması, ıslak zeminlerde personel için ciddi yanık ve kayma/düşme tehlikesi (İSG Riski) oluşturmaktadır.</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1E1E1"/>
        </a:solidFill>
      </p:bgPr>
    </p:bg>
    <p:spTree>
      <p:nvGrpSpPr>
        <p:cNvPr id="1" name=""/>
        <p:cNvGrpSpPr/>
        <p:nvPr/>
      </p:nvGrpSpPr>
      <p:grpSpPr>
        <a:xfrm>
          <a:off x="0" y="0"/>
          <a:ext cx="0" cy="0"/>
          <a:chOff x="0" y="0"/>
          <a:chExt cx="0" cy="0"/>
        </a:xfrm>
      </p:grpSpPr>
      <p:sp>
        <p:nvSpPr>
          <p:cNvPr name="Freeform 2" id="2"/>
          <p:cNvSpPr/>
          <p:nvPr/>
        </p:nvSpPr>
        <p:spPr>
          <a:xfrm flipH="false" flipV="false" rot="0">
            <a:off x="4711711" y="5267325"/>
            <a:ext cx="8864578" cy="8860884"/>
          </a:xfrm>
          <a:custGeom>
            <a:avLst/>
            <a:gdLst/>
            <a:ahLst/>
            <a:cxnLst/>
            <a:rect r="r" b="b" t="t" l="l"/>
            <a:pathLst>
              <a:path h="8860884" w="8864578">
                <a:moveTo>
                  <a:pt x="0" y="0"/>
                </a:moveTo>
                <a:lnTo>
                  <a:pt x="8864578" y="0"/>
                </a:lnTo>
                <a:lnTo>
                  <a:pt x="8864578" y="8860884"/>
                </a:lnTo>
                <a:lnTo>
                  <a:pt x="0" y="8860884"/>
                </a:lnTo>
                <a:lnTo>
                  <a:pt x="0" y="0"/>
                </a:lnTo>
                <a:close/>
              </a:path>
            </a:pathLst>
          </a:custGeom>
          <a:blipFill>
            <a:blip r:embed="rId2">
              <a:alphaModFix amt="25000"/>
            </a:blip>
            <a:stretch>
              <a:fillRect l="0" t="0" r="0" b="0"/>
            </a:stretch>
          </a:blipFill>
          <a:ln cap="sq">
            <a:noFill/>
            <a:prstDash val="solid"/>
            <a:miter/>
          </a:ln>
        </p:spPr>
      </p:sp>
      <p:sp>
        <p:nvSpPr>
          <p:cNvPr name="TextBox 3" id="3"/>
          <p:cNvSpPr txBox="true"/>
          <p:nvPr/>
        </p:nvSpPr>
        <p:spPr>
          <a:xfrm rot="0">
            <a:off x="820619" y="3250819"/>
            <a:ext cx="16646762" cy="3339086"/>
          </a:xfrm>
          <a:prstGeom prst="rect">
            <a:avLst/>
          </a:prstGeom>
        </p:spPr>
        <p:txBody>
          <a:bodyPr anchor="t" rtlCol="false" tIns="0" lIns="0" bIns="0" rIns="0">
            <a:spAutoFit/>
          </a:bodyPr>
          <a:lstStyle/>
          <a:p>
            <a:pPr algn="ctr">
              <a:lnSpc>
                <a:spcPts val="8712"/>
              </a:lnSpc>
            </a:pPr>
            <a:r>
              <a:rPr lang="en-US" sz="7920" b="true">
                <a:solidFill>
                  <a:srgbClr val="2D2D2D"/>
                </a:solidFill>
                <a:latin typeface="Gotham Bold"/>
                <a:ea typeface="Gotham Bold"/>
                <a:cs typeface="Gotham Bold"/>
                <a:sym typeface="Gotham Bold"/>
              </a:rPr>
              <a:t>Çözüm Önerisi</a:t>
            </a:r>
          </a:p>
          <a:p>
            <a:pPr algn="ctr" marL="0" indent="0" lvl="0">
              <a:lnSpc>
                <a:spcPts val="8712"/>
              </a:lnSpc>
            </a:pPr>
            <a:r>
              <a:rPr lang="en-US" sz="7920">
                <a:solidFill>
                  <a:srgbClr val="2D2D2D"/>
                </a:solidFill>
                <a:latin typeface="Gotham"/>
                <a:ea typeface="Gotham"/>
                <a:cs typeface="Gotham"/>
                <a:sym typeface="Gotham"/>
              </a:rPr>
              <a:t>Üç Ayaklı Entegre Sürdürülebilirlik Çözüm Paketi</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1E1E1"/>
        </a:solidFill>
      </p:bgPr>
    </p:bg>
    <p:spTree>
      <p:nvGrpSpPr>
        <p:cNvPr id="1" name=""/>
        <p:cNvGrpSpPr/>
        <p:nvPr/>
      </p:nvGrpSpPr>
      <p:grpSpPr>
        <a:xfrm>
          <a:off x="0" y="0"/>
          <a:ext cx="0" cy="0"/>
          <a:chOff x="0" y="0"/>
          <a:chExt cx="0" cy="0"/>
        </a:xfrm>
      </p:grpSpPr>
      <p:sp>
        <p:nvSpPr>
          <p:cNvPr name="Freeform 2" id="2"/>
          <p:cNvSpPr/>
          <p:nvPr/>
        </p:nvSpPr>
        <p:spPr>
          <a:xfrm flipH="false" flipV="false" rot="0">
            <a:off x="16196678" y="1028700"/>
            <a:ext cx="1062622" cy="1062622"/>
          </a:xfrm>
          <a:custGeom>
            <a:avLst/>
            <a:gdLst/>
            <a:ahLst/>
            <a:cxnLst/>
            <a:rect r="r" b="b" t="t" l="l"/>
            <a:pathLst>
              <a:path h="1062622" w="1062622">
                <a:moveTo>
                  <a:pt x="0" y="0"/>
                </a:moveTo>
                <a:lnTo>
                  <a:pt x="1062622" y="0"/>
                </a:lnTo>
                <a:lnTo>
                  <a:pt x="1062622" y="1062622"/>
                </a:lnTo>
                <a:lnTo>
                  <a:pt x="0" y="10626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7587823" y="3024599"/>
            <a:ext cx="9671477" cy="1978532"/>
            <a:chOff x="0" y="0"/>
            <a:chExt cx="2547220" cy="521095"/>
          </a:xfrm>
        </p:grpSpPr>
        <p:sp>
          <p:nvSpPr>
            <p:cNvPr name="Freeform 4" id="4"/>
            <p:cNvSpPr/>
            <p:nvPr/>
          </p:nvSpPr>
          <p:spPr>
            <a:xfrm flipH="false" flipV="false" rot="0">
              <a:off x="0" y="0"/>
              <a:ext cx="2547220" cy="521095"/>
            </a:xfrm>
            <a:custGeom>
              <a:avLst/>
              <a:gdLst/>
              <a:ahLst/>
              <a:cxnLst/>
              <a:rect r="r" b="b" t="t" l="l"/>
              <a:pathLst>
                <a:path h="521095" w="2547220">
                  <a:moveTo>
                    <a:pt x="40825" y="0"/>
                  </a:moveTo>
                  <a:lnTo>
                    <a:pt x="2506395" y="0"/>
                  </a:lnTo>
                  <a:cubicBezTo>
                    <a:pt x="2517223" y="0"/>
                    <a:pt x="2527607" y="4301"/>
                    <a:pt x="2535263" y="11957"/>
                  </a:cubicBezTo>
                  <a:cubicBezTo>
                    <a:pt x="2542919" y="19614"/>
                    <a:pt x="2547220" y="29998"/>
                    <a:pt x="2547220" y="40825"/>
                  </a:cubicBezTo>
                  <a:lnTo>
                    <a:pt x="2547220" y="480270"/>
                  </a:lnTo>
                  <a:cubicBezTo>
                    <a:pt x="2547220" y="491097"/>
                    <a:pt x="2542919" y="501481"/>
                    <a:pt x="2535263" y="509137"/>
                  </a:cubicBezTo>
                  <a:cubicBezTo>
                    <a:pt x="2527607" y="516794"/>
                    <a:pt x="2517223" y="521095"/>
                    <a:pt x="2506395" y="521095"/>
                  </a:cubicBezTo>
                  <a:lnTo>
                    <a:pt x="40825" y="521095"/>
                  </a:lnTo>
                  <a:cubicBezTo>
                    <a:pt x="29998" y="521095"/>
                    <a:pt x="19614" y="516794"/>
                    <a:pt x="11957" y="509137"/>
                  </a:cubicBezTo>
                  <a:cubicBezTo>
                    <a:pt x="4301" y="501481"/>
                    <a:pt x="0" y="491097"/>
                    <a:pt x="0" y="480270"/>
                  </a:cubicBezTo>
                  <a:lnTo>
                    <a:pt x="0" y="40825"/>
                  </a:lnTo>
                  <a:cubicBezTo>
                    <a:pt x="0" y="29998"/>
                    <a:pt x="4301" y="19614"/>
                    <a:pt x="11957" y="11957"/>
                  </a:cubicBezTo>
                  <a:cubicBezTo>
                    <a:pt x="19614" y="4301"/>
                    <a:pt x="29998" y="0"/>
                    <a:pt x="40825" y="0"/>
                  </a:cubicBezTo>
                  <a:close/>
                </a:path>
              </a:pathLst>
            </a:custGeom>
            <a:solidFill>
              <a:srgbClr val="FFFFFF">
                <a:alpha val="40000"/>
              </a:srgbClr>
            </a:solidFill>
          </p:spPr>
        </p:sp>
        <p:sp>
          <p:nvSpPr>
            <p:cNvPr name="TextBox 5" id="5"/>
            <p:cNvSpPr txBox="true"/>
            <p:nvPr/>
          </p:nvSpPr>
          <p:spPr>
            <a:xfrm>
              <a:off x="0" y="-38100"/>
              <a:ext cx="2547220" cy="559195"/>
            </a:xfrm>
            <a:prstGeom prst="rect">
              <a:avLst/>
            </a:prstGeom>
          </p:spPr>
          <p:txBody>
            <a:bodyPr anchor="ctr" rtlCol="false" tIns="50800" lIns="50800" bIns="50800" rIns="50800"/>
            <a:lstStyle/>
            <a:p>
              <a:pPr algn="ctr">
                <a:lnSpc>
                  <a:spcPts val="2940"/>
                </a:lnSpc>
              </a:pPr>
            </a:p>
          </p:txBody>
        </p:sp>
      </p:grpSp>
      <p:grpSp>
        <p:nvGrpSpPr>
          <p:cNvPr name="Group 6" id="6"/>
          <p:cNvGrpSpPr/>
          <p:nvPr/>
        </p:nvGrpSpPr>
        <p:grpSpPr>
          <a:xfrm rot="0">
            <a:off x="7587823" y="5362188"/>
            <a:ext cx="9671477" cy="1978532"/>
            <a:chOff x="0" y="0"/>
            <a:chExt cx="2547220" cy="521095"/>
          </a:xfrm>
        </p:grpSpPr>
        <p:sp>
          <p:nvSpPr>
            <p:cNvPr name="Freeform 7" id="7"/>
            <p:cNvSpPr/>
            <p:nvPr/>
          </p:nvSpPr>
          <p:spPr>
            <a:xfrm flipH="false" flipV="false" rot="0">
              <a:off x="0" y="0"/>
              <a:ext cx="2547220" cy="521095"/>
            </a:xfrm>
            <a:custGeom>
              <a:avLst/>
              <a:gdLst/>
              <a:ahLst/>
              <a:cxnLst/>
              <a:rect r="r" b="b" t="t" l="l"/>
              <a:pathLst>
                <a:path h="521095" w="2547220">
                  <a:moveTo>
                    <a:pt x="40825" y="0"/>
                  </a:moveTo>
                  <a:lnTo>
                    <a:pt x="2506395" y="0"/>
                  </a:lnTo>
                  <a:cubicBezTo>
                    <a:pt x="2517223" y="0"/>
                    <a:pt x="2527607" y="4301"/>
                    <a:pt x="2535263" y="11957"/>
                  </a:cubicBezTo>
                  <a:cubicBezTo>
                    <a:pt x="2542919" y="19614"/>
                    <a:pt x="2547220" y="29998"/>
                    <a:pt x="2547220" y="40825"/>
                  </a:cubicBezTo>
                  <a:lnTo>
                    <a:pt x="2547220" y="480270"/>
                  </a:lnTo>
                  <a:cubicBezTo>
                    <a:pt x="2547220" y="491097"/>
                    <a:pt x="2542919" y="501481"/>
                    <a:pt x="2535263" y="509137"/>
                  </a:cubicBezTo>
                  <a:cubicBezTo>
                    <a:pt x="2527607" y="516794"/>
                    <a:pt x="2517223" y="521095"/>
                    <a:pt x="2506395" y="521095"/>
                  </a:cubicBezTo>
                  <a:lnTo>
                    <a:pt x="40825" y="521095"/>
                  </a:lnTo>
                  <a:cubicBezTo>
                    <a:pt x="29998" y="521095"/>
                    <a:pt x="19614" y="516794"/>
                    <a:pt x="11957" y="509137"/>
                  </a:cubicBezTo>
                  <a:cubicBezTo>
                    <a:pt x="4301" y="501481"/>
                    <a:pt x="0" y="491097"/>
                    <a:pt x="0" y="480270"/>
                  </a:cubicBezTo>
                  <a:lnTo>
                    <a:pt x="0" y="40825"/>
                  </a:lnTo>
                  <a:cubicBezTo>
                    <a:pt x="0" y="29998"/>
                    <a:pt x="4301" y="19614"/>
                    <a:pt x="11957" y="11957"/>
                  </a:cubicBezTo>
                  <a:cubicBezTo>
                    <a:pt x="19614" y="4301"/>
                    <a:pt x="29998" y="0"/>
                    <a:pt x="40825" y="0"/>
                  </a:cubicBezTo>
                  <a:close/>
                </a:path>
              </a:pathLst>
            </a:custGeom>
            <a:solidFill>
              <a:srgbClr val="FFFFFF">
                <a:alpha val="40000"/>
              </a:srgbClr>
            </a:solidFill>
          </p:spPr>
        </p:sp>
        <p:sp>
          <p:nvSpPr>
            <p:cNvPr name="TextBox 8" id="8"/>
            <p:cNvSpPr txBox="true"/>
            <p:nvPr/>
          </p:nvSpPr>
          <p:spPr>
            <a:xfrm>
              <a:off x="0" y="-38100"/>
              <a:ext cx="2547220" cy="559195"/>
            </a:xfrm>
            <a:prstGeom prst="rect">
              <a:avLst/>
            </a:prstGeom>
          </p:spPr>
          <p:txBody>
            <a:bodyPr anchor="ctr" rtlCol="false" tIns="50800" lIns="50800" bIns="50800" rIns="50800"/>
            <a:lstStyle/>
            <a:p>
              <a:pPr algn="ctr">
                <a:lnSpc>
                  <a:spcPts val="2940"/>
                </a:lnSpc>
              </a:pPr>
            </a:p>
          </p:txBody>
        </p:sp>
      </p:grpSp>
      <p:grpSp>
        <p:nvGrpSpPr>
          <p:cNvPr name="Group 9" id="9"/>
          <p:cNvGrpSpPr/>
          <p:nvPr/>
        </p:nvGrpSpPr>
        <p:grpSpPr>
          <a:xfrm rot="0">
            <a:off x="7587823" y="7705536"/>
            <a:ext cx="9671477" cy="1978532"/>
            <a:chOff x="0" y="0"/>
            <a:chExt cx="2547220" cy="521095"/>
          </a:xfrm>
        </p:grpSpPr>
        <p:sp>
          <p:nvSpPr>
            <p:cNvPr name="Freeform 10" id="10"/>
            <p:cNvSpPr/>
            <p:nvPr/>
          </p:nvSpPr>
          <p:spPr>
            <a:xfrm flipH="false" flipV="false" rot="0">
              <a:off x="0" y="0"/>
              <a:ext cx="2547220" cy="521095"/>
            </a:xfrm>
            <a:custGeom>
              <a:avLst/>
              <a:gdLst/>
              <a:ahLst/>
              <a:cxnLst/>
              <a:rect r="r" b="b" t="t" l="l"/>
              <a:pathLst>
                <a:path h="521095" w="2547220">
                  <a:moveTo>
                    <a:pt x="40825" y="0"/>
                  </a:moveTo>
                  <a:lnTo>
                    <a:pt x="2506395" y="0"/>
                  </a:lnTo>
                  <a:cubicBezTo>
                    <a:pt x="2517223" y="0"/>
                    <a:pt x="2527607" y="4301"/>
                    <a:pt x="2535263" y="11957"/>
                  </a:cubicBezTo>
                  <a:cubicBezTo>
                    <a:pt x="2542919" y="19614"/>
                    <a:pt x="2547220" y="29998"/>
                    <a:pt x="2547220" y="40825"/>
                  </a:cubicBezTo>
                  <a:lnTo>
                    <a:pt x="2547220" y="480270"/>
                  </a:lnTo>
                  <a:cubicBezTo>
                    <a:pt x="2547220" y="491097"/>
                    <a:pt x="2542919" y="501481"/>
                    <a:pt x="2535263" y="509137"/>
                  </a:cubicBezTo>
                  <a:cubicBezTo>
                    <a:pt x="2527607" y="516794"/>
                    <a:pt x="2517223" y="521095"/>
                    <a:pt x="2506395" y="521095"/>
                  </a:cubicBezTo>
                  <a:lnTo>
                    <a:pt x="40825" y="521095"/>
                  </a:lnTo>
                  <a:cubicBezTo>
                    <a:pt x="29998" y="521095"/>
                    <a:pt x="19614" y="516794"/>
                    <a:pt x="11957" y="509137"/>
                  </a:cubicBezTo>
                  <a:cubicBezTo>
                    <a:pt x="4301" y="501481"/>
                    <a:pt x="0" y="491097"/>
                    <a:pt x="0" y="480270"/>
                  </a:cubicBezTo>
                  <a:lnTo>
                    <a:pt x="0" y="40825"/>
                  </a:lnTo>
                  <a:cubicBezTo>
                    <a:pt x="0" y="29998"/>
                    <a:pt x="4301" y="19614"/>
                    <a:pt x="11957" y="11957"/>
                  </a:cubicBezTo>
                  <a:cubicBezTo>
                    <a:pt x="19614" y="4301"/>
                    <a:pt x="29998" y="0"/>
                    <a:pt x="40825" y="0"/>
                  </a:cubicBezTo>
                  <a:close/>
                </a:path>
              </a:pathLst>
            </a:custGeom>
            <a:solidFill>
              <a:srgbClr val="FFFFFF">
                <a:alpha val="40000"/>
              </a:srgbClr>
            </a:solidFill>
          </p:spPr>
        </p:sp>
        <p:sp>
          <p:nvSpPr>
            <p:cNvPr name="TextBox 11" id="11"/>
            <p:cNvSpPr txBox="true"/>
            <p:nvPr/>
          </p:nvSpPr>
          <p:spPr>
            <a:xfrm>
              <a:off x="0" y="-38100"/>
              <a:ext cx="2547220" cy="559195"/>
            </a:xfrm>
            <a:prstGeom prst="rect">
              <a:avLst/>
            </a:prstGeom>
          </p:spPr>
          <p:txBody>
            <a:bodyPr anchor="ctr" rtlCol="false" tIns="50800" lIns="50800" bIns="50800" rIns="50800"/>
            <a:lstStyle/>
            <a:p>
              <a:pPr algn="ctr">
                <a:lnSpc>
                  <a:spcPts val="2940"/>
                </a:lnSpc>
              </a:pPr>
            </a:p>
          </p:txBody>
        </p:sp>
      </p:grpSp>
      <p:grpSp>
        <p:nvGrpSpPr>
          <p:cNvPr name="Group 12" id="12"/>
          <p:cNvGrpSpPr/>
          <p:nvPr/>
        </p:nvGrpSpPr>
        <p:grpSpPr>
          <a:xfrm rot="0">
            <a:off x="0" y="0"/>
            <a:ext cx="6924006" cy="10287000"/>
            <a:chOff x="0" y="0"/>
            <a:chExt cx="1072710" cy="1593725"/>
          </a:xfrm>
        </p:grpSpPr>
        <p:sp>
          <p:nvSpPr>
            <p:cNvPr name="Freeform 13" id="13"/>
            <p:cNvSpPr/>
            <p:nvPr/>
          </p:nvSpPr>
          <p:spPr>
            <a:xfrm flipH="false" flipV="false" rot="0">
              <a:off x="0" y="0"/>
              <a:ext cx="1072710" cy="1593725"/>
            </a:xfrm>
            <a:custGeom>
              <a:avLst/>
              <a:gdLst/>
              <a:ahLst/>
              <a:cxnLst/>
              <a:rect r="r" b="b" t="t" l="l"/>
              <a:pathLst>
                <a:path h="1593725" w="1072710">
                  <a:moveTo>
                    <a:pt x="0" y="0"/>
                  </a:moveTo>
                  <a:lnTo>
                    <a:pt x="1072710" y="0"/>
                  </a:lnTo>
                  <a:lnTo>
                    <a:pt x="1072710" y="1593725"/>
                  </a:lnTo>
                  <a:lnTo>
                    <a:pt x="0" y="1593725"/>
                  </a:lnTo>
                  <a:close/>
                </a:path>
              </a:pathLst>
            </a:custGeom>
            <a:blipFill>
              <a:blip r:embed="rId4"/>
              <a:stretch>
                <a:fillRect l="-49046" t="0" r="-49046" b="0"/>
              </a:stretch>
            </a:blipFill>
            <a:ln w="47625" cap="sq">
              <a:solidFill>
                <a:srgbClr val="FFFFFF"/>
              </a:solidFill>
              <a:prstDash val="solid"/>
              <a:miter/>
            </a:ln>
          </p:spPr>
        </p:sp>
      </p:grpSp>
      <p:sp>
        <p:nvSpPr>
          <p:cNvPr name="TextBox 14" id="14"/>
          <p:cNvSpPr txBox="true"/>
          <p:nvPr/>
        </p:nvSpPr>
        <p:spPr>
          <a:xfrm rot="0">
            <a:off x="7406586" y="1076325"/>
            <a:ext cx="8608855" cy="690880"/>
          </a:xfrm>
          <a:prstGeom prst="rect">
            <a:avLst/>
          </a:prstGeom>
        </p:spPr>
        <p:txBody>
          <a:bodyPr anchor="t" rtlCol="false" tIns="0" lIns="0" bIns="0" rIns="0">
            <a:spAutoFit/>
          </a:bodyPr>
          <a:lstStyle/>
          <a:p>
            <a:pPr algn="r" marL="0" indent="0" lvl="0">
              <a:lnSpc>
                <a:spcPts val="5390"/>
              </a:lnSpc>
            </a:pPr>
            <a:r>
              <a:rPr lang="en-US" b="true" sz="4900">
                <a:solidFill>
                  <a:srgbClr val="2D2D2D"/>
                </a:solidFill>
                <a:latin typeface="Gotham Bold"/>
                <a:ea typeface="Gotham Bold"/>
                <a:cs typeface="Gotham Bold"/>
                <a:sym typeface="Gotham Bold"/>
              </a:rPr>
              <a:t>Entegre Çözüm Paketi</a:t>
            </a:r>
          </a:p>
        </p:txBody>
      </p:sp>
      <p:sp>
        <p:nvSpPr>
          <p:cNvPr name="TextBox 15" id="15"/>
          <p:cNvSpPr txBox="true"/>
          <p:nvPr/>
        </p:nvSpPr>
        <p:spPr>
          <a:xfrm rot="0">
            <a:off x="7949886" y="3160608"/>
            <a:ext cx="8947352" cy="1663065"/>
          </a:xfrm>
          <a:prstGeom prst="rect">
            <a:avLst/>
          </a:prstGeom>
        </p:spPr>
        <p:txBody>
          <a:bodyPr anchor="t" rtlCol="false" tIns="0" lIns="0" bIns="0" rIns="0">
            <a:spAutoFit/>
          </a:bodyPr>
          <a:lstStyle/>
          <a:p>
            <a:pPr algn="ctr" marL="0" indent="0" lvl="0">
              <a:lnSpc>
                <a:spcPts val="3359"/>
              </a:lnSpc>
              <a:spcBef>
                <a:spcPct val="0"/>
              </a:spcBef>
            </a:pPr>
            <a:r>
              <a:rPr lang="en-US" sz="2400">
                <a:solidFill>
                  <a:srgbClr val="2D2D2D"/>
                </a:solidFill>
                <a:latin typeface="Gotham"/>
                <a:ea typeface="Gotham"/>
                <a:cs typeface="Gotham"/>
                <a:sym typeface="Gotham"/>
              </a:rPr>
              <a:t>Marul yıkama makinesinin **son yıkama suyunu** (günlük 800 L) toplamak. Bu suyu mekanik filtreleyip, termal sanitasyon (buhar) ile dezenfekte ederek temizlik operasyonlarında yeniden kullanmak.</a:t>
            </a:r>
          </a:p>
        </p:txBody>
      </p:sp>
      <p:sp>
        <p:nvSpPr>
          <p:cNvPr name="TextBox 16" id="16"/>
          <p:cNvSpPr txBox="true"/>
          <p:nvPr/>
        </p:nvSpPr>
        <p:spPr>
          <a:xfrm rot="0">
            <a:off x="7949886" y="8047826"/>
            <a:ext cx="8947352" cy="1243965"/>
          </a:xfrm>
          <a:prstGeom prst="rect">
            <a:avLst/>
          </a:prstGeom>
        </p:spPr>
        <p:txBody>
          <a:bodyPr anchor="t" rtlCol="false" tIns="0" lIns="0" bIns="0" rIns="0">
            <a:spAutoFit/>
          </a:bodyPr>
          <a:lstStyle/>
          <a:p>
            <a:pPr algn="ctr" marL="0" indent="0" lvl="0">
              <a:lnSpc>
                <a:spcPts val="3359"/>
              </a:lnSpc>
              <a:spcBef>
                <a:spcPct val="0"/>
              </a:spcBef>
            </a:pPr>
            <a:r>
              <a:rPr lang="en-US" sz="2400">
                <a:solidFill>
                  <a:srgbClr val="2D2D2D"/>
                </a:solidFill>
                <a:latin typeface="Gotham"/>
                <a:ea typeface="Gotham"/>
                <a:cs typeface="Gotham"/>
                <a:sym typeface="Gotham"/>
              </a:rPr>
              <a:t>Tesis içerisinde bilinçlendirici etkinlikler gerçekleştirmek. Tüm personele su tasarrufu, atık ayrıştırma ve İSG konularında düzenli, uygulamalı eğitimler vermek.</a:t>
            </a:r>
          </a:p>
        </p:txBody>
      </p:sp>
      <p:sp>
        <p:nvSpPr>
          <p:cNvPr name="TextBox 17" id="17"/>
          <p:cNvSpPr txBox="true"/>
          <p:nvPr/>
        </p:nvSpPr>
        <p:spPr>
          <a:xfrm rot="0">
            <a:off x="7949886" y="2641694"/>
            <a:ext cx="3984361" cy="356235"/>
          </a:xfrm>
          <a:prstGeom prst="rect">
            <a:avLst/>
          </a:prstGeom>
        </p:spPr>
        <p:txBody>
          <a:bodyPr anchor="t" rtlCol="false" tIns="0" lIns="0" bIns="0" rIns="0">
            <a:spAutoFit/>
          </a:bodyPr>
          <a:lstStyle/>
          <a:p>
            <a:pPr algn="ctr">
              <a:lnSpc>
                <a:spcPts val="2940"/>
              </a:lnSpc>
              <a:spcBef>
                <a:spcPct val="0"/>
              </a:spcBef>
            </a:pPr>
            <a:r>
              <a:rPr lang="en-US" b="true" sz="2100">
                <a:solidFill>
                  <a:srgbClr val="2D2D2D"/>
                </a:solidFill>
                <a:latin typeface="Gotham Bold"/>
                <a:ea typeface="Gotham Bold"/>
                <a:cs typeface="Gotham Bold"/>
                <a:sym typeface="Gotham Bold"/>
              </a:rPr>
              <a:t>Ayak 1: Döngüsel Su Yönetimi</a:t>
            </a:r>
          </a:p>
        </p:txBody>
      </p:sp>
      <p:sp>
        <p:nvSpPr>
          <p:cNvPr name="TextBox 18" id="18"/>
          <p:cNvSpPr txBox="true"/>
          <p:nvPr/>
        </p:nvSpPr>
        <p:spPr>
          <a:xfrm rot="0">
            <a:off x="7924136" y="4965031"/>
            <a:ext cx="8020220" cy="356235"/>
          </a:xfrm>
          <a:prstGeom prst="rect">
            <a:avLst/>
          </a:prstGeom>
        </p:spPr>
        <p:txBody>
          <a:bodyPr anchor="t" rtlCol="false" tIns="0" lIns="0" bIns="0" rIns="0">
            <a:spAutoFit/>
          </a:bodyPr>
          <a:lstStyle/>
          <a:p>
            <a:pPr algn="ctr">
              <a:lnSpc>
                <a:spcPts val="2940"/>
              </a:lnSpc>
              <a:spcBef>
                <a:spcPct val="0"/>
              </a:spcBef>
            </a:pPr>
            <a:r>
              <a:rPr lang="en-US" b="true" sz="2100">
                <a:solidFill>
                  <a:srgbClr val="2D2D2D"/>
                </a:solidFill>
                <a:latin typeface="Gotham Bold"/>
                <a:ea typeface="Gotham Bold"/>
                <a:cs typeface="Gotham Bold"/>
                <a:sym typeface="Gotham Bold"/>
              </a:rPr>
              <a:t>Ayak 2: Kullanılan hortumlarda tazikli başlıklar kulllanılması</a:t>
            </a:r>
          </a:p>
        </p:txBody>
      </p:sp>
      <p:sp>
        <p:nvSpPr>
          <p:cNvPr name="TextBox 19" id="19"/>
          <p:cNvSpPr txBox="true"/>
          <p:nvPr/>
        </p:nvSpPr>
        <p:spPr>
          <a:xfrm rot="0">
            <a:off x="7949886" y="7359769"/>
            <a:ext cx="4361656" cy="356235"/>
          </a:xfrm>
          <a:prstGeom prst="rect">
            <a:avLst/>
          </a:prstGeom>
        </p:spPr>
        <p:txBody>
          <a:bodyPr anchor="t" rtlCol="false" tIns="0" lIns="0" bIns="0" rIns="0">
            <a:spAutoFit/>
          </a:bodyPr>
          <a:lstStyle/>
          <a:p>
            <a:pPr algn="ctr">
              <a:lnSpc>
                <a:spcPts val="2940"/>
              </a:lnSpc>
              <a:spcBef>
                <a:spcPct val="0"/>
              </a:spcBef>
            </a:pPr>
            <a:r>
              <a:rPr lang="en-US" b="true" sz="2100">
                <a:solidFill>
                  <a:srgbClr val="2D2D2D"/>
                </a:solidFill>
                <a:latin typeface="Gotham Bold"/>
                <a:ea typeface="Gotham Bold"/>
                <a:cs typeface="Gotham Bold"/>
                <a:sym typeface="Gotham Bold"/>
              </a:rPr>
              <a:t>Ayak 3: Kurumsal Bilinçlendirme</a:t>
            </a:r>
          </a:p>
        </p:txBody>
      </p:sp>
      <p:sp>
        <p:nvSpPr>
          <p:cNvPr name="TextBox 20" id="20"/>
          <p:cNvSpPr txBox="true"/>
          <p:nvPr/>
        </p:nvSpPr>
        <p:spPr>
          <a:xfrm rot="0">
            <a:off x="7949886" y="5873716"/>
            <a:ext cx="8947352" cy="824865"/>
          </a:xfrm>
          <a:prstGeom prst="rect">
            <a:avLst/>
          </a:prstGeom>
        </p:spPr>
        <p:txBody>
          <a:bodyPr anchor="t" rtlCol="false" tIns="0" lIns="0" bIns="0" rIns="0">
            <a:spAutoFit/>
          </a:bodyPr>
          <a:lstStyle/>
          <a:p>
            <a:pPr algn="ctr" marL="0" indent="0" lvl="0">
              <a:lnSpc>
                <a:spcPts val="3359"/>
              </a:lnSpc>
              <a:spcBef>
                <a:spcPct val="0"/>
              </a:spcBef>
            </a:pPr>
            <a:r>
              <a:rPr lang="en-US" sz="2400">
                <a:solidFill>
                  <a:srgbClr val="2D2D2D"/>
                </a:solidFill>
                <a:latin typeface="Gotham"/>
                <a:ea typeface="Gotham"/>
                <a:cs typeface="Gotham"/>
                <a:sym typeface="Gotham"/>
              </a:rPr>
              <a:t>Üretim alanında kullanılan hortumların uçlarına tazikli başlıklar yerleştirerek su israfını azaltmak.</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1E1E1"/>
        </a:solidFill>
      </p:bgPr>
    </p:bg>
    <p:spTree>
      <p:nvGrpSpPr>
        <p:cNvPr id="1" name=""/>
        <p:cNvGrpSpPr/>
        <p:nvPr/>
      </p:nvGrpSpPr>
      <p:grpSpPr>
        <a:xfrm>
          <a:off x="0" y="0"/>
          <a:ext cx="0" cy="0"/>
          <a:chOff x="0" y="0"/>
          <a:chExt cx="0" cy="0"/>
        </a:xfrm>
      </p:grpSpPr>
      <p:pic>
        <p:nvPicPr>
          <p:cNvPr name="Picture 2" id="2">
            <a:hlinkClick action="ppaction://media"/>
          </p:cNvPr>
          <p:cNvPicPr>
            <a:picLocks noChangeAspect="true"/>
          </p:cNvPicPr>
          <p:nvPr>
            <a:videoFile r:link="rId3"/>
            <p:extLst>
              <p:ext uri="{DAA4B4D4-6D71-4841-9C94-3DE7FCFB9230}">
                <p14:media xmlns:p14="http://schemas.microsoft.com/office/powerpoint/2010/main" r:embed="rId4"/>
              </p:ext>
            </p:extLst>
          </p:nvPr>
        </p:nvPicPr>
        <p:blipFill>
          <a:blip r:embed="rId2"/>
          <a:srcRect l="0" t="0" r="0" b="0"/>
          <a:stretch>
            <a:fillRect/>
          </a:stretch>
        </p:blipFill>
        <p:spPr>
          <a:xfrm flipH="false" flipV="false" rot="0">
            <a:off x="671603" y="276252"/>
            <a:ext cx="16944795" cy="9531447"/>
          </a:xfrm>
          <a:prstGeom prst="rect">
            <a:avLst/>
          </a:prstGeom>
        </p:spPr>
      </p:pic>
    </p:spTree>
  </p:cSld>
  <p:clrMapOvr>
    <a:masterClrMapping/>
  </p:clrMapOvr>
  <p:timing>
    <p:tnLst>
      <p:par>
        <p:cTn dur="indefinite" restart="never" nodeType="tmRoot">
          <p:childTnLst>
            <p:video>
              <p:cMediaNode vol="100000">
                <p:cTn fill="hold" display="false">
                  <p:stCondLst>
                    <p:cond delay="indefinite"/>
                  </p:stCondLst>
                </p:cTn>
                <p:tgtEl>
                  <p:spTgt spid="2"/>
                </p:tgtEl>
              </p:cMediaNode>
            </p:video>
          </p:childTnLst>
        </p:cTn>
      </p:par>
    </p:tnLst>
  </p:timing>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1E1E1"/>
        </a:solidFill>
      </p:bgPr>
    </p:bg>
    <p:spTree>
      <p:nvGrpSpPr>
        <p:cNvPr id="1" name=""/>
        <p:cNvGrpSpPr/>
        <p:nvPr/>
      </p:nvGrpSpPr>
      <p:grpSpPr>
        <a:xfrm>
          <a:off x="0" y="0"/>
          <a:ext cx="0" cy="0"/>
          <a:chOff x="0" y="0"/>
          <a:chExt cx="0" cy="0"/>
        </a:xfrm>
      </p:grpSpPr>
      <p:sp>
        <p:nvSpPr>
          <p:cNvPr name="Freeform 2" id="2"/>
          <p:cNvSpPr/>
          <p:nvPr/>
        </p:nvSpPr>
        <p:spPr>
          <a:xfrm flipH="false" flipV="false" rot="0">
            <a:off x="4711711" y="5267325"/>
            <a:ext cx="8864578" cy="8860884"/>
          </a:xfrm>
          <a:custGeom>
            <a:avLst/>
            <a:gdLst/>
            <a:ahLst/>
            <a:cxnLst/>
            <a:rect r="r" b="b" t="t" l="l"/>
            <a:pathLst>
              <a:path h="8860884" w="8864578">
                <a:moveTo>
                  <a:pt x="0" y="0"/>
                </a:moveTo>
                <a:lnTo>
                  <a:pt x="8864578" y="0"/>
                </a:lnTo>
                <a:lnTo>
                  <a:pt x="8864578" y="8860884"/>
                </a:lnTo>
                <a:lnTo>
                  <a:pt x="0" y="8860884"/>
                </a:lnTo>
                <a:lnTo>
                  <a:pt x="0" y="0"/>
                </a:lnTo>
                <a:close/>
              </a:path>
            </a:pathLst>
          </a:custGeom>
          <a:blipFill>
            <a:blip r:embed="rId2">
              <a:alphaModFix amt="25000"/>
            </a:blip>
            <a:stretch>
              <a:fillRect l="0" t="0" r="0" b="0"/>
            </a:stretch>
          </a:blipFill>
          <a:ln cap="sq">
            <a:noFill/>
            <a:prstDash val="solid"/>
            <a:miter/>
          </a:ln>
        </p:spPr>
      </p:sp>
      <p:sp>
        <p:nvSpPr>
          <p:cNvPr name="TextBox 3" id="3"/>
          <p:cNvSpPr txBox="true"/>
          <p:nvPr/>
        </p:nvSpPr>
        <p:spPr>
          <a:xfrm rot="0">
            <a:off x="4451987" y="4616957"/>
            <a:ext cx="9384027" cy="1129286"/>
          </a:xfrm>
          <a:prstGeom prst="rect">
            <a:avLst/>
          </a:prstGeom>
        </p:spPr>
        <p:txBody>
          <a:bodyPr anchor="t" rtlCol="false" tIns="0" lIns="0" bIns="0" rIns="0">
            <a:spAutoFit/>
          </a:bodyPr>
          <a:lstStyle/>
          <a:p>
            <a:pPr algn="ctr" marL="0" indent="0" lvl="0">
              <a:lnSpc>
                <a:spcPts val="8712"/>
              </a:lnSpc>
            </a:pPr>
            <a:r>
              <a:rPr lang="en-US" b="true" sz="7920">
                <a:solidFill>
                  <a:srgbClr val="2D2D2D"/>
                </a:solidFill>
                <a:latin typeface="Gotham Bold"/>
                <a:ea typeface="Gotham Bold"/>
                <a:cs typeface="Gotham Bold"/>
                <a:sym typeface="Gotham Bold"/>
              </a:rPr>
              <a:t> FİNANSAL BAKIŞ</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E1E1E1"/>
        </a:solidFill>
      </p:bgPr>
    </p:bg>
    <p:spTree>
      <p:nvGrpSpPr>
        <p:cNvPr id="1" name=""/>
        <p:cNvGrpSpPr/>
        <p:nvPr/>
      </p:nvGrpSpPr>
      <p:grpSpPr>
        <a:xfrm>
          <a:off x="0" y="0"/>
          <a:ext cx="0" cy="0"/>
          <a:chOff x="0" y="0"/>
          <a:chExt cx="0" cy="0"/>
        </a:xfrm>
      </p:grpSpPr>
      <p:sp>
        <p:nvSpPr>
          <p:cNvPr name="TextBox 2" id="2"/>
          <p:cNvSpPr txBox="true"/>
          <p:nvPr/>
        </p:nvSpPr>
        <p:spPr>
          <a:xfrm rot="0">
            <a:off x="1445524" y="971550"/>
            <a:ext cx="14920927" cy="7674631"/>
          </a:xfrm>
          <a:prstGeom prst="rect">
            <a:avLst/>
          </a:prstGeom>
        </p:spPr>
        <p:txBody>
          <a:bodyPr anchor="t" rtlCol="false" tIns="0" lIns="0" bIns="0" rIns="0">
            <a:spAutoFit/>
          </a:bodyPr>
          <a:lstStyle/>
          <a:p>
            <a:pPr algn="l">
              <a:lnSpc>
                <a:spcPts val="3420"/>
              </a:lnSpc>
            </a:pPr>
            <a:r>
              <a:rPr lang="en-US" sz="2443" b="true">
                <a:solidFill>
                  <a:srgbClr val="2D2D2D"/>
                </a:solidFill>
                <a:latin typeface="Gotham Bold"/>
                <a:ea typeface="Gotham Bold"/>
                <a:cs typeface="Gotham Bold"/>
                <a:sym typeface="Gotham Bold"/>
              </a:rPr>
              <a:t>1. Finansal Tespit (Temmuz - Ağustos 2025 Verisi)</a:t>
            </a:r>
          </a:p>
          <a:p>
            <a:pPr algn="l" marL="527481" indent="-263740" lvl="1">
              <a:lnSpc>
                <a:spcPts val="3420"/>
              </a:lnSpc>
              <a:buFont typeface="Arial"/>
              <a:buChar char="•"/>
            </a:pPr>
            <a:r>
              <a:rPr lang="en-US" sz="2443">
                <a:solidFill>
                  <a:srgbClr val="2D2D2D"/>
                </a:solidFill>
                <a:latin typeface="Gotham"/>
                <a:ea typeface="Gotham"/>
                <a:cs typeface="Gotham"/>
                <a:sym typeface="Gotham"/>
              </a:rPr>
              <a:t>Ortalama Aylık Su Gideri: ~160.000 TL – 180.000 TL </a:t>
            </a:r>
          </a:p>
          <a:p>
            <a:pPr algn="l" marL="527481" indent="-263740" lvl="1">
              <a:lnSpc>
                <a:spcPts val="3420"/>
              </a:lnSpc>
              <a:buFont typeface="Arial"/>
              <a:buChar char="•"/>
            </a:pPr>
            <a:r>
              <a:rPr lang="en-US" sz="2443">
                <a:solidFill>
                  <a:srgbClr val="2D2D2D"/>
                </a:solidFill>
                <a:latin typeface="Gotham"/>
                <a:ea typeface="Gotham"/>
                <a:cs typeface="Gotham"/>
                <a:sym typeface="Gotham"/>
              </a:rPr>
              <a:t>Yıllık Projeksiyon: ~2.000.000 TL+ (Enflasyon hariç)</a:t>
            </a:r>
          </a:p>
          <a:p>
            <a:pPr algn="l" marL="527481" indent="-263740" lvl="1">
              <a:lnSpc>
                <a:spcPts val="3420"/>
              </a:lnSpc>
              <a:buFont typeface="Arial"/>
              <a:buChar char="•"/>
            </a:pPr>
            <a:r>
              <a:rPr lang="en-US" sz="2443">
                <a:solidFill>
                  <a:srgbClr val="2D2D2D"/>
                </a:solidFill>
                <a:latin typeface="Gotham"/>
                <a:ea typeface="Gotham"/>
                <a:cs typeface="Gotham"/>
                <a:sym typeface="Gotham"/>
              </a:rPr>
              <a:t>Ana Tüketim Kaynağı: Sayaç No: 8372828 (Toplam tüketimin %90’ı bu noktada) </a:t>
            </a:r>
          </a:p>
          <a:p>
            <a:pPr algn="l">
              <a:lnSpc>
                <a:spcPts val="3420"/>
              </a:lnSpc>
            </a:pPr>
            <a:r>
              <a:rPr lang="en-US" sz="2443" b="true">
                <a:solidFill>
                  <a:srgbClr val="2D2D2D"/>
                </a:solidFill>
                <a:latin typeface="Gotham Bold"/>
                <a:ea typeface="Gotham Bold"/>
                <a:cs typeface="Gotham Bold"/>
                <a:sym typeface="Gotham Bold"/>
              </a:rPr>
              <a:t>2. Tüketim Hacmi</a:t>
            </a:r>
          </a:p>
          <a:p>
            <a:pPr algn="l" marL="527481" indent="-263740" lvl="1">
              <a:lnSpc>
                <a:spcPts val="3420"/>
              </a:lnSpc>
              <a:buFont typeface="Arial"/>
              <a:buChar char="•"/>
            </a:pPr>
            <a:r>
              <a:rPr lang="en-US" sz="2443">
                <a:solidFill>
                  <a:srgbClr val="2D2D2D"/>
                </a:solidFill>
                <a:latin typeface="Gotham"/>
                <a:ea typeface="Gotham"/>
                <a:cs typeface="Gotham"/>
                <a:sym typeface="Gotham"/>
              </a:rPr>
              <a:t>Aylık Su Kullanımı: ~1.300 m³ - 1.800 m³ </a:t>
            </a:r>
          </a:p>
          <a:p>
            <a:pPr algn="l" marL="527481" indent="-263740" lvl="1">
              <a:lnSpc>
                <a:spcPts val="3420"/>
              </a:lnSpc>
              <a:buFont typeface="Arial"/>
              <a:buChar char="•"/>
            </a:pPr>
            <a:r>
              <a:rPr lang="en-US" sz="2443">
                <a:solidFill>
                  <a:srgbClr val="2D2D2D"/>
                </a:solidFill>
                <a:latin typeface="Gotham"/>
                <a:ea typeface="Gotham"/>
                <a:cs typeface="Gotham"/>
                <a:sym typeface="Gotham"/>
              </a:rPr>
              <a:t>Mevcut Model: "Lineer Tüketim" (Kullan ➔ Atık Suya Gönder ➔ Öde)</a:t>
            </a:r>
          </a:p>
          <a:p>
            <a:pPr algn="l" marL="527481" indent="-263740" lvl="1">
              <a:lnSpc>
                <a:spcPts val="3420"/>
              </a:lnSpc>
              <a:buFont typeface="Arial"/>
              <a:buChar char="•"/>
            </a:pPr>
            <a:r>
              <a:rPr lang="en-US" sz="2443">
                <a:solidFill>
                  <a:srgbClr val="2D2D2D"/>
                </a:solidFill>
                <a:latin typeface="Gotham"/>
                <a:ea typeface="Gotham"/>
                <a:cs typeface="Gotham"/>
                <a:sym typeface="Gotham"/>
              </a:rPr>
              <a:t>Risk: BUSKİ birim fiyat artışları ve olası su kesintilerinde üretim durması.</a:t>
            </a:r>
          </a:p>
          <a:p>
            <a:pPr algn="l">
              <a:lnSpc>
                <a:spcPts val="3420"/>
              </a:lnSpc>
            </a:pPr>
            <a:r>
              <a:rPr lang="en-US" sz="2443" b="true">
                <a:solidFill>
                  <a:srgbClr val="2D2D2D"/>
                </a:solidFill>
                <a:latin typeface="Gotham Bold"/>
                <a:ea typeface="Gotham Bold"/>
                <a:cs typeface="Gotham Bold"/>
                <a:sym typeface="Gotham Bold"/>
              </a:rPr>
              <a:t>3. Hedef</a:t>
            </a:r>
          </a:p>
          <a:p>
            <a:pPr algn="l" marL="527481" indent="-263740" lvl="1">
              <a:lnSpc>
                <a:spcPts val="3420"/>
              </a:lnSpc>
              <a:buFont typeface="Arial"/>
              <a:buChar char="•"/>
            </a:pPr>
            <a:r>
              <a:rPr lang="en-US" sz="2443">
                <a:solidFill>
                  <a:srgbClr val="2D2D2D"/>
                </a:solidFill>
                <a:latin typeface="Gotham"/>
                <a:ea typeface="Gotham"/>
                <a:cs typeface="Gotham"/>
                <a:sym typeface="Gotham"/>
              </a:rPr>
              <a:t>Tasarruf: Su faturasında %35 - %40 azalma.</a:t>
            </a:r>
          </a:p>
          <a:p>
            <a:pPr algn="l" marL="527481" indent="-263740" lvl="1">
              <a:lnSpc>
                <a:spcPts val="3420"/>
              </a:lnSpc>
              <a:buFont typeface="Arial"/>
              <a:buChar char="•"/>
            </a:pPr>
            <a:r>
              <a:rPr lang="en-US" sz="2443">
                <a:solidFill>
                  <a:srgbClr val="2D2D2D"/>
                </a:solidFill>
                <a:latin typeface="Gotham"/>
                <a:ea typeface="Gotham"/>
                <a:cs typeface="Gotham"/>
                <a:sym typeface="Gotham"/>
              </a:rPr>
              <a:t>Kazanç: Aylık ~60.000 TL nakit tasarrufu.</a:t>
            </a:r>
          </a:p>
          <a:p>
            <a:pPr algn="l">
              <a:lnSpc>
                <a:spcPts val="3420"/>
              </a:lnSpc>
            </a:pPr>
            <a:r>
              <a:rPr lang="en-US" sz="2443">
                <a:solidFill>
                  <a:srgbClr val="2D2D2D"/>
                </a:solidFill>
                <a:latin typeface="Gotham"/>
                <a:ea typeface="Gotham"/>
                <a:cs typeface="Gotham"/>
                <a:sym typeface="Gotham"/>
              </a:rPr>
              <a:t>Sistemin otomatik ve verimli çalışmasını sağlayan temel otomasyon bileşenleri bu maliyetin içindedir ve şunlardır:</a:t>
            </a:r>
          </a:p>
          <a:p>
            <a:pPr algn="l" marL="527481" indent="-263740" lvl="1">
              <a:lnSpc>
                <a:spcPts val="3420"/>
              </a:lnSpc>
              <a:buFont typeface="Arial"/>
              <a:buChar char="•"/>
            </a:pPr>
            <a:r>
              <a:rPr lang="en-US" sz="2443">
                <a:solidFill>
                  <a:srgbClr val="2D2D2D"/>
                </a:solidFill>
                <a:latin typeface="Gotham"/>
                <a:ea typeface="Gotham"/>
                <a:cs typeface="Gotham"/>
                <a:sym typeface="Gotham"/>
              </a:rPr>
              <a:t>​</a:t>
            </a:r>
            <a:r>
              <a:rPr lang="en-US" b="true" sz="2443">
                <a:solidFill>
                  <a:srgbClr val="2D2D2D"/>
                </a:solidFill>
                <a:latin typeface="Gotham Bold"/>
                <a:ea typeface="Gotham Bold"/>
                <a:cs typeface="Gotham Bold"/>
                <a:sym typeface="Gotham Bold"/>
              </a:rPr>
              <a:t>Sensörler</a:t>
            </a:r>
            <a:r>
              <a:rPr lang="en-US" sz="2443">
                <a:solidFill>
                  <a:srgbClr val="2D2D2D"/>
                </a:solidFill>
                <a:latin typeface="Gotham"/>
                <a:ea typeface="Gotham"/>
                <a:cs typeface="Gotham"/>
                <a:sym typeface="Gotham"/>
              </a:rPr>
              <a:t>: Sudanlık seviyesini takip eden Bulanıklık (Turbidity) Sensörü, çözünmüş katı madde miktarını ölçen EC/TDS (İletkenlik) Sensörü ve suyun kimyasal dengesini kontrol eden pH Sensörü.</a:t>
            </a:r>
          </a:p>
          <a:p>
            <a:pPr algn="l" marL="527481" indent="-263740" lvl="1">
              <a:lnSpc>
                <a:spcPts val="3420"/>
              </a:lnSpc>
              <a:spcBef>
                <a:spcPct val="0"/>
              </a:spcBef>
              <a:buFont typeface="Arial"/>
              <a:buChar char="•"/>
            </a:pPr>
            <a:r>
              <a:rPr lang="en-US" b="true" sz="2443">
                <a:solidFill>
                  <a:srgbClr val="2D2D2D"/>
                </a:solidFill>
                <a:latin typeface="Gotham Bold"/>
                <a:ea typeface="Gotham Bold"/>
                <a:cs typeface="Gotham Bold"/>
                <a:sym typeface="Gotham Bold"/>
              </a:rPr>
              <a:t>Aktüatör</a:t>
            </a:r>
            <a:r>
              <a:rPr lang="en-US" sz="2443">
                <a:solidFill>
                  <a:srgbClr val="2D2D2D"/>
                </a:solidFill>
                <a:latin typeface="Gotham"/>
                <a:ea typeface="Gotham"/>
                <a:cs typeface="Gotham"/>
                <a:sym typeface="Gotham"/>
              </a:rPr>
              <a:t>: Bu sensör verilerine dayanarak suyun arıtıma mı yoksa kanala mı gideceğini otomatik olarak yöneten Selenoid Vanalar.</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1E1E1"/>
        </a:solidFill>
      </p:bgPr>
    </p:bg>
    <p:spTree>
      <p:nvGrpSpPr>
        <p:cNvPr id="1" name=""/>
        <p:cNvGrpSpPr/>
        <p:nvPr/>
      </p:nvGrpSpPr>
      <p:grpSpPr>
        <a:xfrm>
          <a:off x="0" y="0"/>
          <a:ext cx="0" cy="0"/>
          <a:chOff x="0" y="0"/>
          <a:chExt cx="0" cy="0"/>
        </a:xfrm>
      </p:grpSpPr>
      <p:sp>
        <p:nvSpPr>
          <p:cNvPr name="Freeform 2" id="2"/>
          <p:cNvSpPr/>
          <p:nvPr/>
        </p:nvSpPr>
        <p:spPr>
          <a:xfrm flipH="false" flipV="false" rot="0">
            <a:off x="16688582" y="547237"/>
            <a:ext cx="1062622" cy="1062622"/>
          </a:xfrm>
          <a:custGeom>
            <a:avLst/>
            <a:gdLst/>
            <a:ahLst/>
            <a:cxnLst/>
            <a:rect r="r" b="b" t="t" l="l"/>
            <a:pathLst>
              <a:path h="1062622" w="1062622">
                <a:moveTo>
                  <a:pt x="0" y="0"/>
                </a:moveTo>
                <a:lnTo>
                  <a:pt x="1062622" y="0"/>
                </a:lnTo>
                <a:lnTo>
                  <a:pt x="1062622" y="1062622"/>
                </a:lnTo>
                <a:lnTo>
                  <a:pt x="0" y="10626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7508951" y="776605"/>
            <a:ext cx="9179630" cy="532765"/>
          </a:xfrm>
          <a:prstGeom prst="rect">
            <a:avLst/>
          </a:prstGeom>
        </p:spPr>
        <p:txBody>
          <a:bodyPr anchor="t" rtlCol="false" tIns="0" lIns="0" bIns="0" rIns="0">
            <a:spAutoFit/>
          </a:bodyPr>
          <a:lstStyle/>
          <a:p>
            <a:pPr algn="r" marL="0" indent="0" lvl="0">
              <a:lnSpc>
                <a:spcPts val="4069"/>
              </a:lnSpc>
            </a:pPr>
            <a:r>
              <a:rPr lang="en-US" b="true" sz="3699">
                <a:solidFill>
                  <a:srgbClr val="2D2D2D"/>
                </a:solidFill>
                <a:latin typeface="Gotham Bold"/>
                <a:ea typeface="Gotham Bold"/>
                <a:cs typeface="Gotham Bold"/>
                <a:sym typeface="Gotham Bold"/>
              </a:rPr>
              <a:t>YATIRIM, HİBE VE GERİ DÖNÜŞ (ROI)</a:t>
            </a:r>
          </a:p>
        </p:txBody>
      </p:sp>
      <p:sp>
        <p:nvSpPr>
          <p:cNvPr name="TextBox 4" id="4"/>
          <p:cNvSpPr txBox="true"/>
          <p:nvPr/>
        </p:nvSpPr>
        <p:spPr>
          <a:xfrm rot="0">
            <a:off x="640358" y="1718282"/>
            <a:ext cx="17110846" cy="8084820"/>
          </a:xfrm>
          <a:prstGeom prst="rect">
            <a:avLst/>
          </a:prstGeom>
        </p:spPr>
        <p:txBody>
          <a:bodyPr anchor="t" rtlCol="false" tIns="0" lIns="0" bIns="0" rIns="0">
            <a:spAutoFit/>
          </a:bodyPr>
          <a:lstStyle/>
          <a:p>
            <a:pPr algn="l">
              <a:lnSpc>
                <a:spcPts val="3779"/>
              </a:lnSpc>
            </a:pPr>
            <a:r>
              <a:rPr lang="en-US" sz="2700" b="true">
                <a:solidFill>
                  <a:srgbClr val="2D2D2D"/>
                </a:solidFill>
                <a:latin typeface="Gotham Bold"/>
                <a:ea typeface="Gotham Bold"/>
                <a:cs typeface="Gotham Bold"/>
                <a:sym typeface="Gotham Bold"/>
              </a:rPr>
              <a:t>1. YATIRIM VE HİBE TABLOSU</a:t>
            </a:r>
          </a:p>
          <a:p>
            <a:pPr algn="l" marL="582930" indent="-291465" lvl="1">
              <a:lnSpc>
                <a:spcPts val="3779"/>
              </a:lnSpc>
              <a:buFont typeface="Arial"/>
              <a:buChar char="•"/>
            </a:pPr>
            <a:r>
              <a:rPr lang="en-US" sz="2700">
                <a:solidFill>
                  <a:srgbClr val="2D2D2D"/>
                </a:solidFill>
                <a:latin typeface="Gotham"/>
                <a:ea typeface="Gotham"/>
                <a:cs typeface="Gotham"/>
                <a:sym typeface="Gotham"/>
              </a:rPr>
              <a:t>Toplam Yatırım: 32.500 $ (Anahtar Teslim)</a:t>
            </a:r>
          </a:p>
          <a:p>
            <a:pPr algn="l" marL="582930" indent="-291465" lvl="1">
              <a:lnSpc>
                <a:spcPts val="3779"/>
              </a:lnSpc>
              <a:buFont typeface="Arial"/>
              <a:buChar char="•"/>
            </a:pPr>
            <a:r>
              <a:rPr lang="en-US" sz="2700">
                <a:solidFill>
                  <a:srgbClr val="2D2D2D"/>
                </a:solidFill>
                <a:latin typeface="Gotham"/>
                <a:ea typeface="Gotham"/>
                <a:cs typeface="Gotham"/>
                <a:sym typeface="Gotham"/>
              </a:rPr>
              <a:t>ZWGP Hibesi (%50): -16.250 $ (Geri Ödemesiz)</a:t>
            </a:r>
          </a:p>
          <a:p>
            <a:pPr algn="l" marL="582930" indent="-291465" lvl="1">
              <a:lnSpc>
                <a:spcPts val="3779"/>
              </a:lnSpc>
              <a:buFont typeface="Arial"/>
              <a:buChar char="•"/>
            </a:pPr>
            <a:r>
              <a:rPr lang="en-US" sz="2700">
                <a:solidFill>
                  <a:srgbClr val="2D2D2D"/>
                </a:solidFill>
                <a:latin typeface="Gotham"/>
                <a:ea typeface="Gotham"/>
                <a:cs typeface="Gotham"/>
                <a:sym typeface="Gotham"/>
              </a:rPr>
              <a:t>FİRMAYA NET MALİYET: 16.250 $ (~650.000 TL)</a:t>
            </a:r>
          </a:p>
          <a:p>
            <a:pPr algn="l">
              <a:lnSpc>
                <a:spcPts val="3779"/>
              </a:lnSpc>
            </a:pPr>
            <a:r>
              <a:rPr lang="en-US" sz="2700" b="true">
                <a:solidFill>
                  <a:srgbClr val="2D2D2D"/>
                </a:solidFill>
                <a:latin typeface="Gotham Bold"/>
                <a:ea typeface="Gotham Bold"/>
                <a:cs typeface="Gotham Bold"/>
                <a:sym typeface="Gotham Bold"/>
              </a:rPr>
              <a:t>2. OPERASYONEL KAZANÇ (TASARRUF ANALİZİ)</a:t>
            </a:r>
          </a:p>
          <a:p>
            <a:pPr algn="l" marL="582930" indent="-291465" lvl="1">
              <a:lnSpc>
                <a:spcPts val="3779"/>
              </a:lnSpc>
              <a:buFont typeface="Arial"/>
              <a:buChar char="•"/>
            </a:pPr>
            <a:r>
              <a:rPr lang="en-US" sz="2700">
                <a:solidFill>
                  <a:srgbClr val="2D2D2D"/>
                </a:solidFill>
                <a:latin typeface="Gotham"/>
                <a:ea typeface="Gotham"/>
                <a:cs typeface="Gotham"/>
                <a:sym typeface="Gotham"/>
              </a:rPr>
              <a:t>Hedeflenen Tasarruf: Faturalarda %35 - %40 azalma.</a:t>
            </a:r>
          </a:p>
          <a:p>
            <a:pPr algn="l" marL="582930" indent="-291465" lvl="1">
              <a:lnSpc>
                <a:spcPts val="3779"/>
              </a:lnSpc>
              <a:buFont typeface="Arial"/>
              <a:buChar char="•"/>
            </a:pPr>
            <a:r>
              <a:rPr lang="en-US" sz="2700">
                <a:solidFill>
                  <a:srgbClr val="2D2D2D"/>
                </a:solidFill>
                <a:latin typeface="Gotham"/>
                <a:ea typeface="Gotham"/>
                <a:cs typeface="Gotham"/>
                <a:sym typeface="Gotham"/>
              </a:rPr>
              <a:t>Aylık Net Kazanç: ~60.000 TL</a:t>
            </a:r>
          </a:p>
          <a:p>
            <a:pPr algn="l" marL="582930" indent="-291465" lvl="1">
              <a:lnSpc>
                <a:spcPts val="3779"/>
              </a:lnSpc>
              <a:buFont typeface="Arial"/>
              <a:buChar char="•"/>
            </a:pPr>
            <a:r>
              <a:rPr lang="en-US" sz="2700">
                <a:solidFill>
                  <a:srgbClr val="2D2D2D"/>
                </a:solidFill>
                <a:latin typeface="Gotham"/>
                <a:ea typeface="Gotham"/>
                <a:cs typeface="Gotham"/>
                <a:sym typeface="Gotham"/>
              </a:rPr>
              <a:t>Yıllık Katkı: ~720.000 TL</a:t>
            </a:r>
          </a:p>
          <a:p>
            <a:pPr algn="l">
              <a:lnSpc>
                <a:spcPts val="3779"/>
              </a:lnSpc>
            </a:pPr>
            <a:r>
              <a:rPr lang="en-US" sz="2700" b="true">
                <a:solidFill>
                  <a:srgbClr val="2D2D2D"/>
                </a:solidFill>
                <a:latin typeface="Gotham Bold"/>
                <a:ea typeface="Gotham Bold"/>
                <a:cs typeface="Gotham Bold"/>
                <a:sym typeface="Gotham Bold"/>
              </a:rPr>
              <a:t>3. YATIRIMIN GERİ DÖNÜŞÜ (ROI)</a:t>
            </a:r>
          </a:p>
          <a:p>
            <a:pPr algn="l" marL="582930" indent="-291465" lvl="1">
              <a:lnSpc>
                <a:spcPts val="3779"/>
              </a:lnSpc>
              <a:buFont typeface="Arial"/>
              <a:buChar char="•"/>
            </a:pPr>
            <a:r>
              <a:rPr lang="en-US" sz="2700">
                <a:solidFill>
                  <a:srgbClr val="2D2D2D"/>
                </a:solidFill>
                <a:latin typeface="Gotham"/>
                <a:ea typeface="Gotham"/>
                <a:cs typeface="Gotham"/>
                <a:sym typeface="Gotham"/>
              </a:rPr>
              <a:t>Geri Dönüş Süresi: ~11 AY</a:t>
            </a:r>
          </a:p>
          <a:p>
            <a:pPr algn="l" marL="582930" indent="-291465" lvl="1">
              <a:lnSpc>
                <a:spcPts val="3779"/>
              </a:lnSpc>
              <a:buFont typeface="Arial"/>
              <a:buChar char="•"/>
            </a:pPr>
            <a:r>
              <a:rPr lang="en-US" sz="2700">
                <a:solidFill>
                  <a:srgbClr val="2D2D2D"/>
                </a:solidFill>
                <a:latin typeface="Gotham"/>
                <a:ea typeface="Gotham"/>
                <a:cs typeface="Gotham"/>
                <a:sym typeface="Gotham"/>
              </a:rPr>
              <a:t>Sonuç: Hibe desteği ile proje, sanayi ortalamasının çok altında, 1 yıldan kısa sürede kendini amorti etmektedir.</a:t>
            </a:r>
          </a:p>
          <a:p>
            <a:pPr algn="l">
              <a:lnSpc>
                <a:spcPts val="3779"/>
              </a:lnSpc>
            </a:pPr>
            <a:r>
              <a:rPr lang="en-US" sz="2700" b="true">
                <a:solidFill>
                  <a:srgbClr val="2D2D2D"/>
                </a:solidFill>
                <a:latin typeface="Gotham Bold"/>
                <a:ea typeface="Gotham Bold"/>
                <a:cs typeface="Gotham Bold"/>
                <a:sym typeface="Gotham Bold"/>
              </a:rPr>
              <a:t>4. STRATEJİK FİNANSAL DEĞERLENDİRME</a:t>
            </a:r>
          </a:p>
          <a:p>
            <a:pPr algn="l" marL="582930" indent="-291465" lvl="1">
              <a:lnSpc>
                <a:spcPts val="3779"/>
              </a:lnSpc>
              <a:buFont typeface="Arial"/>
              <a:buChar char="•"/>
            </a:pPr>
            <a:r>
              <a:rPr lang="en-US" sz="2700">
                <a:solidFill>
                  <a:srgbClr val="2D2D2D"/>
                </a:solidFill>
                <a:latin typeface="Gotham"/>
                <a:ea typeface="Gotham"/>
                <a:cs typeface="Gotham"/>
                <a:sym typeface="Gotham"/>
              </a:rPr>
              <a:t>Sürekli Getiri: 12. aydan sonra sistem bedavadır; her yıl şirkete ~750.000 TL ek nakit yaratır.</a:t>
            </a:r>
          </a:p>
          <a:p>
            <a:pPr algn="l" marL="582930" indent="-291465" lvl="1">
              <a:lnSpc>
                <a:spcPts val="3779"/>
              </a:lnSpc>
              <a:buFont typeface="Arial"/>
              <a:buChar char="•"/>
            </a:pPr>
            <a:r>
              <a:rPr lang="en-US" sz="2700">
                <a:solidFill>
                  <a:srgbClr val="2D2D2D"/>
                </a:solidFill>
                <a:latin typeface="Gotham"/>
                <a:ea typeface="Gotham"/>
                <a:cs typeface="Gotham"/>
                <a:sym typeface="Gotham"/>
              </a:rPr>
              <a:t>Düşük Risk: %50 hibe desteği finansal riski minimize etmiş, artan su fiyatlarına karşı koruma sağlamıştır.</a:t>
            </a:r>
          </a:p>
          <a:p>
            <a:pPr algn="l" marL="0" indent="0" lvl="0">
              <a:lnSpc>
                <a:spcPts val="3779"/>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1E1E1"/>
        </a:solidFill>
      </p:bgPr>
    </p:bg>
    <p:spTree>
      <p:nvGrpSpPr>
        <p:cNvPr id="1" name=""/>
        <p:cNvGrpSpPr/>
        <p:nvPr/>
      </p:nvGrpSpPr>
      <p:grpSpPr>
        <a:xfrm>
          <a:off x="0" y="0"/>
          <a:ext cx="0" cy="0"/>
          <a:chOff x="0" y="0"/>
          <a:chExt cx="0" cy="0"/>
        </a:xfrm>
      </p:grpSpPr>
      <p:sp>
        <p:nvSpPr>
          <p:cNvPr name="Freeform 2" id="2"/>
          <p:cNvSpPr/>
          <p:nvPr/>
        </p:nvSpPr>
        <p:spPr>
          <a:xfrm flipH="false" flipV="false" rot="0">
            <a:off x="16032694" y="1241158"/>
            <a:ext cx="1062622" cy="1062622"/>
          </a:xfrm>
          <a:custGeom>
            <a:avLst/>
            <a:gdLst/>
            <a:ahLst/>
            <a:cxnLst/>
            <a:rect r="r" b="b" t="t" l="l"/>
            <a:pathLst>
              <a:path h="1062622" w="1062622">
                <a:moveTo>
                  <a:pt x="0" y="0"/>
                </a:moveTo>
                <a:lnTo>
                  <a:pt x="1062622" y="0"/>
                </a:lnTo>
                <a:lnTo>
                  <a:pt x="1062622" y="1062623"/>
                </a:lnTo>
                <a:lnTo>
                  <a:pt x="0" y="10626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6971173" y="1477829"/>
            <a:ext cx="8852118" cy="627381"/>
          </a:xfrm>
          <a:prstGeom prst="rect">
            <a:avLst/>
          </a:prstGeom>
        </p:spPr>
        <p:txBody>
          <a:bodyPr anchor="t" rtlCol="false" tIns="0" lIns="0" bIns="0" rIns="0">
            <a:spAutoFit/>
          </a:bodyPr>
          <a:lstStyle/>
          <a:p>
            <a:pPr algn="r" marL="0" indent="0" lvl="0">
              <a:lnSpc>
                <a:spcPts val="4840"/>
              </a:lnSpc>
            </a:pPr>
            <a:r>
              <a:rPr lang="en-US" b="true" sz="4400">
                <a:solidFill>
                  <a:srgbClr val="2D2D2D"/>
                </a:solidFill>
                <a:latin typeface="Gotham Bold"/>
                <a:ea typeface="Gotham Bold"/>
                <a:cs typeface="Gotham Bold"/>
                <a:sym typeface="Gotham Bold"/>
              </a:rPr>
              <a:t> Su Geri Kazanımı ROI</a:t>
            </a:r>
          </a:p>
        </p:txBody>
      </p:sp>
      <p:sp>
        <p:nvSpPr>
          <p:cNvPr name="TextBox 4" id="4"/>
          <p:cNvSpPr txBox="true"/>
          <p:nvPr/>
        </p:nvSpPr>
        <p:spPr>
          <a:xfrm rot="0">
            <a:off x="1192684" y="6310656"/>
            <a:ext cx="15902632" cy="1243965"/>
          </a:xfrm>
          <a:prstGeom prst="rect">
            <a:avLst/>
          </a:prstGeom>
        </p:spPr>
        <p:txBody>
          <a:bodyPr anchor="t" rtlCol="false" tIns="0" lIns="0" bIns="0" rIns="0">
            <a:spAutoFit/>
          </a:bodyPr>
          <a:lstStyle/>
          <a:p>
            <a:pPr algn="l">
              <a:lnSpc>
                <a:spcPts val="3359"/>
              </a:lnSpc>
            </a:pPr>
            <a:r>
              <a:rPr lang="en-US" sz="2400">
                <a:solidFill>
                  <a:srgbClr val="2D2D2D"/>
                </a:solidFill>
                <a:latin typeface="Gotham"/>
                <a:ea typeface="Gotham"/>
                <a:cs typeface="Gotham"/>
                <a:sym typeface="Gotham"/>
              </a:rPr>
              <a:t>Tahmini Yatırım: 72.000 TL | Tahmini Yıllık Tasarruf (Su + Atık Su): 11.520 TL. (Marul yıkama makinesi için geçerlidir)</a:t>
            </a:r>
          </a:p>
          <a:p>
            <a:pPr algn="l" marL="0" indent="0" lvl="0">
              <a:lnSpc>
                <a:spcPts val="3359"/>
              </a:lnSpc>
              <a:spcBef>
                <a:spcPct val="0"/>
              </a:spcBef>
            </a:pPr>
            <a:r>
              <a:rPr lang="en-US" sz="2400">
                <a:solidFill>
                  <a:srgbClr val="2D2D2D"/>
                </a:solidFill>
                <a:latin typeface="Gotham"/>
                <a:ea typeface="Gotham"/>
                <a:cs typeface="Gotham"/>
                <a:sym typeface="Gotham"/>
              </a:rPr>
              <a:t>ZWGP (Sıfır Atık Hibe Programı) hibesi ile yatırımın geri dönüş süresi 3.1 yıla düşmektedir.</a:t>
            </a:r>
          </a:p>
        </p:txBody>
      </p:sp>
      <p:pic>
        <p:nvPicPr>
          <p:cNvPr name="Picture 5" id="5"/>
          <p:cNvPicPr>
            <a:picLocks noChangeAspect="true"/>
          </p:cNvPicPr>
          <p:nvPr/>
        </p:nvPicPr>
        <p:blipFill>
          <a:blip r:embed="rId4"/>
          <a:stretch>
            <a:fillRect/>
          </a:stretch>
        </p:blipFill>
        <p:spPr>
          <a:xfrm rot="0">
            <a:off x="-499304" y="1521060"/>
            <a:ext cx="19286609" cy="6359282"/>
          </a:xfrm>
          <a:prstGeom prst="rect">
            <a:avLst/>
          </a:prstGeom>
        </p:spPr>
      </p:pic>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487" t="0" r="-1487" b="0"/>
            </a:stretch>
          </a:blipFill>
        </p:spPr>
      </p:sp>
      <p:grpSp>
        <p:nvGrpSpPr>
          <p:cNvPr name="Group 3" id="3"/>
          <p:cNvGrpSpPr/>
          <p:nvPr/>
        </p:nvGrpSpPr>
        <p:grpSpPr>
          <a:xfrm rot="0">
            <a:off x="4013404" y="5346962"/>
            <a:ext cx="10261192" cy="424610"/>
            <a:chOff x="0" y="0"/>
            <a:chExt cx="4990101" cy="206491"/>
          </a:xfrm>
        </p:grpSpPr>
        <p:sp>
          <p:nvSpPr>
            <p:cNvPr name="Freeform 4" id="4"/>
            <p:cNvSpPr/>
            <p:nvPr/>
          </p:nvSpPr>
          <p:spPr>
            <a:xfrm flipH="false" flipV="false" rot="0">
              <a:off x="0" y="0"/>
              <a:ext cx="4990101" cy="206491"/>
            </a:xfrm>
            <a:custGeom>
              <a:avLst/>
              <a:gdLst/>
              <a:ahLst/>
              <a:cxnLst/>
              <a:rect r="r" b="b" t="t" l="l"/>
              <a:pathLst>
                <a:path h="206491" w="4990101">
                  <a:moveTo>
                    <a:pt x="21126" y="0"/>
                  </a:moveTo>
                  <a:lnTo>
                    <a:pt x="4968975" y="0"/>
                  </a:lnTo>
                  <a:cubicBezTo>
                    <a:pt x="4980642" y="0"/>
                    <a:pt x="4990101" y="9458"/>
                    <a:pt x="4990101" y="21126"/>
                  </a:cubicBezTo>
                  <a:lnTo>
                    <a:pt x="4990101" y="185366"/>
                  </a:lnTo>
                  <a:cubicBezTo>
                    <a:pt x="4990101" y="190969"/>
                    <a:pt x="4987875" y="196342"/>
                    <a:pt x="4983913" y="200304"/>
                  </a:cubicBezTo>
                  <a:cubicBezTo>
                    <a:pt x="4979951" y="204266"/>
                    <a:pt x="4974578" y="206491"/>
                    <a:pt x="4968975" y="206491"/>
                  </a:cubicBezTo>
                  <a:lnTo>
                    <a:pt x="21126" y="206491"/>
                  </a:lnTo>
                  <a:cubicBezTo>
                    <a:pt x="15523" y="206491"/>
                    <a:pt x="10149" y="204266"/>
                    <a:pt x="6188" y="200304"/>
                  </a:cubicBezTo>
                  <a:cubicBezTo>
                    <a:pt x="2226" y="196342"/>
                    <a:pt x="0" y="190969"/>
                    <a:pt x="0" y="185366"/>
                  </a:cubicBezTo>
                  <a:lnTo>
                    <a:pt x="0" y="21126"/>
                  </a:lnTo>
                  <a:cubicBezTo>
                    <a:pt x="0" y="15523"/>
                    <a:pt x="2226" y="10149"/>
                    <a:pt x="6188" y="6188"/>
                  </a:cubicBezTo>
                  <a:cubicBezTo>
                    <a:pt x="10149" y="2226"/>
                    <a:pt x="15523" y="0"/>
                    <a:pt x="21126" y="0"/>
                  </a:cubicBezTo>
                  <a:close/>
                </a:path>
              </a:pathLst>
            </a:custGeom>
            <a:solidFill>
              <a:srgbClr val="90DE6D"/>
            </a:solidFill>
          </p:spPr>
        </p:sp>
        <p:sp>
          <p:nvSpPr>
            <p:cNvPr name="TextBox 5" id="5"/>
            <p:cNvSpPr txBox="true"/>
            <p:nvPr/>
          </p:nvSpPr>
          <p:spPr>
            <a:xfrm>
              <a:off x="0" y="-28575"/>
              <a:ext cx="4990101" cy="235066"/>
            </a:xfrm>
            <a:prstGeom prst="rect">
              <a:avLst/>
            </a:prstGeom>
          </p:spPr>
          <p:txBody>
            <a:bodyPr anchor="ctr" rtlCol="false" tIns="27512" lIns="27512" bIns="27512" rIns="27512"/>
            <a:lstStyle/>
            <a:p>
              <a:pPr algn="ctr">
                <a:lnSpc>
                  <a:spcPts val="1592"/>
                </a:lnSpc>
              </a:pPr>
            </a:p>
          </p:txBody>
        </p:sp>
      </p:grpSp>
      <p:sp>
        <p:nvSpPr>
          <p:cNvPr name="Freeform 6" id="6"/>
          <p:cNvSpPr/>
          <p:nvPr/>
        </p:nvSpPr>
        <p:spPr>
          <a:xfrm flipH="false" flipV="false" rot="0">
            <a:off x="8612689" y="2669534"/>
            <a:ext cx="1062622" cy="1062622"/>
          </a:xfrm>
          <a:custGeom>
            <a:avLst/>
            <a:gdLst/>
            <a:ahLst/>
            <a:cxnLst/>
            <a:rect r="r" b="b" t="t" l="l"/>
            <a:pathLst>
              <a:path h="1062622" w="1062622">
                <a:moveTo>
                  <a:pt x="0" y="0"/>
                </a:moveTo>
                <a:lnTo>
                  <a:pt x="1062622" y="0"/>
                </a:lnTo>
                <a:lnTo>
                  <a:pt x="1062622" y="1062622"/>
                </a:lnTo>
                <a:lnTo>
                  <a:pt x="0" y="106262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4092671" y="3560706"/>
            <a:ext cx="10102658" cy="1510031"/>
          </a:xfrm>
          <a:prstGeom prst="rect">
            <a:avLst/>
          </a:prstGeom>
        </p:spPr>
        <p:txBody>
          <a:bodyPr anchor="t" rtlCol="false" tIns="0" lIns="0" bIns="0" rIns="0">
            <a:spAutoFit/>
          </a:bodyPr>
          <a:lstStyle/>
          <a:p>
            <a:pPr algn="ctr" marL="0" indent="0" lvl="0">
              <a:lnSpc>
                <a:spcPts val="12319"/>
              </a:lnSpc>
              <a:spcBef>
                <a:spcPct val="0"/>
              </a:spcBef>
            </a:pPr>
            <a:r>
              <a:rPr lang="en-US" b="true" sz="8799">
                <a:solidFill>
                  <a:srgbClr val="000000"/>
                </a:solidFill>
                <a:latin typeface="Gotham Bold"/>
                <a:ea typeface="Gotham Bold"/>
                <a:cs typeface="Gotham Bold"/>
                <a:sym typeface="Gotham Bold"/>
              </a:rPr>
              <a:t>Dinlediğiniz</a:t>
            </a:r>
          </a:p>
        </p:txBody>
      </p:sp>
      <p:sp>
        <p:nvSpPr>
          <p:cNvPr name="TextBox 8" id="8"/>
          <p:cNvSpPr txBox="true"/>
          <p:nvPr/>
        </p:nvSpPr>
        <p:spPr>
          <a:xfrm rot="0">
            <a:off x="3599700" y="4666877"/>
            <a:ext cx="11088600" cy="1226820"/>
          </a:xfrm>
          <a:prstGeom prst="rect">
            <a:avLst/>
          </a:prstGeom>
        </p:spPr>
        <p:txBody>
          <a:bodyPr anchor="t" rtlCol="false" tIns="0" lIns="0" bIns="0" rIns="0">
            <a:spAutoFit/>
          </a:bodyPr>
          <a:lstStyle/>
          <a:p>
            <a:pPr algn="ctr" marL="0" indent="0" lvl="0">
              <a:lnSpc>
                <a:spcPts val="10080"/>
              </a:lnSpc>
              <a:spcBef>
                <a:spcPct val="0"/>
              </a:spcBef>
            </a:pPr>
            <a:r>
              <a:rPr lang="en-US" sz="7200">
                <a:solidFill>
                  <a:srgbClr val="2D2D2D"/>
                </a:solidFill>
                <a:latin typeface="Gotham"/>
                <a:ea typeface="Gotham"/>
                <a:cs typeface="Gotham"/>
                <a:sym typeface="Gotham"/>
              </a:rPr>
              <a:t>için teşekkür ederiz.</a:t>
            </a:r>
          </a:p>
        </p:txBody>
      </p:sp>
      <p:sp>
        <p:nvSpPr>
          <p:cNvPr name="TextBox 9" id="9"/>
          <p:cNvSpPr txBox="true"/>
          <p:nvPr/>
        </p:nvSpPr>
        <p:spPr>
          <a:xfrm rot="0">
            <a:off x="3599700" y="6256543"/>
            <a:ext cx="11088600" cy="622935"/>
          </a:xfrm>
          <a:prstGeom prst="rect">
            <a:avLst/>
          </a:prstGeom>
        </p:spPr>
        <p:txBody>
          <a:bodyPr anchor="t" rtlCol="false" tIns="0" lIns="0" bIns="0" rIns="0">
            <a:spAutoFit/>
          </a:bodyPr>
          <a:lstStyle/>
          <a:p>
            <a:pPr algn="ctr" marL="0" indent="0" lvl="0">
              <a:lnSpc>
                <a:spcPts val="5040"/>
              </a:lnSpc>
              <a:spcBef>
                <a:spcPct val="0"/>
              </a:spcBef>
            </a:pPr>
            <a:r>
              <a:rPr lang="en-US" b="true" sz="3600">
                <a:solidFill>
                  <a:srgbClr val="000000"/>
                </a:solidFill>
                <a:latin typeface="Gotham Bold"/>
                <a:ea typeface="Gotham Bold"/>
                <a:cs typeface="Gotham Bold"/>
                <a:sym typeface="Gotham Bold"/>
              </a:rPr>
              <a:t>DURU &amp; ÖRNEK YEMEK SANAYİ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DAG4Zz_ySqM</dc:identifier>
  <dcterms:modified xsi:type="dcterms:W3CDTF">2011-08-01T06:04:30Z</dcterms:modified>
  <cp:revision>1</cp:revision>
  <dc:title>DURU</dc:title>
</cp:coreProperties>
</file>